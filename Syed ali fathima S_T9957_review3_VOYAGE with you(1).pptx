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16764057" r:id="rId2"/>
    <p:sldId id="16764060" r:id="rId3"/>
    <p:sldId id="16764061" r:id="rId4"/>
    <p:sldId id="16764055" r:id="rId5"/>
    <p:sldId id="16764062" r:id="rId6"/>
    <p:sldId id="16764069" r:id="rId7"/>
    <p:sldId id="16764077" r:id="rId8"/>
    <p:sldId id="16764066" r:id="rId9"/>
    <p:sldId id="16764072" r:id="rId10"/>
    <p:sldId id="16764065" r:id="rId11"/>
    <p:sldId id="16764075" r:id="rId12"/>
    <p:sldId id="16764074" r:id="rId13"/>
    <p:sldId id="16764076" r:id="rId14"/>
    <p:sldId id="16764067" r:id="rId15"/>
    <p:sldId id="16764070" r:id="rId16"/>
    <p:sldId id="167640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09" autoAdjust="0"/>
    <p:restoredTop sz="94660"/>
  </p:normalViewPr>
  <p:slideViewPr>
    <p:cSldViewPr snapToGrid="0">
      <p:cViewPr varScale="1">
        <p:scale>
          <a:sx n="59" d="100"/>
          <a:sy n="59" d="100"/>
        </p:scale>
        <p:origin x="684" y="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p:cNvPicPr>
            <a:picLocks noChangeAspect="1" noChangeArrowheads="1"/>
          </p:cNvPicPr>
          <p:nvPr userDrawn="1"/>
        </p:nvPicPr>
        <p:blipFill>
          <a:blip r:embed="rId16" cstate="print">
            <a:extLst>
              <a:ext uri="{BEBA8EAE-BF5A-486C-A8C5-ECC9F3942E4B}">
                <a14:imgProps xmlns:a14="http://schemas.microsoft.com/office/drawing/2010/main">
                  <a14:imgLayer r:embed="rId17">
                    <a14:imgEffect>
                      <a14:brightnessContrast bright="-2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p:cNvSpPr txBox="1"/>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p:cNvSpPr txBox="1"/>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p:cNvSpPr txBox="1"/>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p:cNvSpPr txBox="1"/>
          <p:nvPr/>
        </p:nvSpPr>
        <p:spPr>
          <a:xfrm>
            <a:off x="180236" y="1659822"/>
            <a:ext cx="11428184" cy="45243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3600" b="1" dirty="0">
                <a:solidFill>
                  <a:schemeClr val="bg1"/>
                </a:solidFill>
                <a:cs typeface="Calibri" panose="020F0502020204030204" pitchFamily="34" charset="0"/>
              </a:rPr>
              <a:t>Review III</a:t>
            </a:r>
          </a:p>
          <a:p>
            <a:pPr lvl="0" algn="ctr">
              <a:defRPr/>
            </a:pPr>
            <a:r>
              <a:rPr kumimoji="0" lang="en-US" sz="3600" b="1"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t>AI Voyage Panner-Context Aware Travel Recommendations and Adaptive Scheduling</a:t>
            </a:r>
          </a:p>
          <a:p>
            <a:pPr lvl="0" algn="ctr">
              <a:defRPr/>
            </a:pPr>
            <a:br>
              <a:rPr lang="en-US" sz="2400" b="1" dirty="0">
                <a:solidFill>
                  <a:schemeClr val="bg1"/>
                </a:solidFill>
                <a:cs typeface="Calibri" panose="020F0502020204030204" pitchFamily="34" charset="0"/>
              </a:rPr>
            </a:br>
            <a:r>
              <a:rPr lang="en-US" sz="2400" b="1" dirty="0">
                <a:solidFill>
                  <a:schemeClr val="bg1"/>
                </a:solidFill>
                <a:cs typeface="Calibri" panose="020F0502020204030204" pitchFamily="34" charset="0"/>
              </a:rPr>
              <a:t>Syed </a:t>
            </a:r>
            <a:r>
              <a:rPr lang="en-US" sz="2400" b="1">
                <a:solidFill>
                  <a:schemeClr val="bg1"/>
                </a:solidFill>
                <a:cs typeface="Calibri" panose="020F0502020204030204" pitchFamily="34" charset="0"/>
              </a:rPr>
              <a:t>Ali Fathima S</a:t>
            </a:r>
            <a:br>
              <a:rPr lang="en-US" sz="2400" b="1" dirty="0">
                <a:solidFill>
                  <a:schemeClr val="bg1"/>
                </a:solidFill>
                <a:cs typeface="Calibri" panose="020F0502020204030204" pitchFamily="34" charset="0"/>
              </a:rPr>
            </a:br>
            <a:r>
              <a:rPr lang="en-US" sz="2400" b="1" dirty="0">
                <a:solidFill>
                  <a:schemeClr val="bg1"/>
                </a:solidFill>
                <a:cs typeface="Calibri" panose="020F0502020204030204" pitchFamily="34" charset="0"/>
              </a:rPr>
              <a:t>M.TECH(AI&amp;DS)|B.S.A.CRESCENT INSTITUTE OF SCIENCE AND TECHNOLOGY|T9957</a:t>
            </a:r>
          </a:p>
          <a:p>
            <a:pPr lvl="0" algn="ctr">
              <a:defRPr/>
            </a:pPr>
            <a:endParaRPr lang="en-US" sz="5400" b="1" dirty="0">
              <a:solidFill>
                <a:schemeClr val="bg1"/>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schemeClr val="bg1"/>
              </a:solidFill>
              <a:effectLst/>
              <a:uLnTx/>
              <a:uFillTx/>
              <a:latin typeface="Frutiger 45 bold"/>
              <a:ea typeface="+mn-ea"/>
              <a:cs typeface="Calibri" panose="020F0502020204030204" pitchFamily="34" charset="0"/>
            </a:endParaRPr>
          </a:p>
        </p:txBody>
      </p:sp>
      <p:graphicFrame>
        <p:nvGraphicFramePr>
          <p:cNvPr id="3" name="Table 2"/>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20000"/>
                    </a:ext>
                  </a:extLst>
                </a:gridCol>
                <a:gridCol w="6119608">
                  <a:extLst>
                    <a:ext uri="{9D8B030D-6E8A-4147-A177-3AD203B41FA5}">
                      <a16:colId xmlns:a16="http://schemas.microsoft.com/office/drawing/2014/main" val="20001"/>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pic>
        <p:nvPicPr>
          <p:cNvPr id="8" name="Picture 7"/>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459845" cy="4937760"/>
          </a:xfrm>
        </p:spPr>
        <p:txBody>
          <a:bodyPr/>
          <a:lstStyle/>
          <a:p>
            <a:pPr lvl="0" algn="just"/>
            <a:r>
              <a:rPr lang="en-US" altLang="en-GB" sz="2400" b="0" dirty="0">
                <a:solidFill>
                  <a:schemeClr val="tx1"/>
                </a:solidFill>
                <a:latin typeface="+mn-lt"/>
              </a:rPr>
              <a:t>Planning a trip manually requires searching multiple sources for destinations, attractions, restaurants, hotels, weather, and routes.</a:t>
            </a:r>
          </a:p>
          <a:p>
            <a:pPr lvl="0" algn="just"/>
            <a:r>
              <a:rPr lang="en-US" altLang="en-GB" sz="2400" b="0" dirty="0">
                <a:solidFill>
                  <a:schemeClr val="tx1"/>
                </a:solidFill>
                <a:latin typeface="+mn-lt"/>
              </a:rPr>
              <a:t>Generic travel plans may not consider the user's budget, interests, travel dates, number of travelers, and food preferences.</a:t>
            </a:r>
          </a:p>
          <a:p>
            <a:pPr lvl="0" algn="just"/>
            <a:r>
              <a:rPr lang="en-US" altLang="en-GB" sz="2400" b="0" dirty="0">
                <a:solidFill>
                  <a:schemeClr val="tx1"/>
                </a:solidFill>
                <a:latin typeface="+mn-lt"/>
              </a:rPr>
              <a:t>AI Voyage Planner uses Generative AI, RAG, and live location-based APIs to create personalized travel plans.</a:t>
            </a:r>
          </a:p>
          <a:p>
            <a:pPr lvl="0" algn="just"/>
            <a:r>
              <a:rPr lang="en-US" altLang="en-GB" sz="2400" b="0" dirty="0">
                <a:solidFill>
                  <a:schemeClr val="tx1"/>
                </a:solidFill>
                <a:latin typeface="+mn-lt"/>
              </a:rPr>
              <a:t>The system integrates Geoapify, OpenWeather, and route information to provide dynamic travel recommendations.</a:t>
            </a:r>
          </a:p>
          <a:p>
            <a:pPr lvl="0" algn="just"/>
            <a:r>
              <a:rPr lang="en-US" altLang="en-GB" sz="2400" b="0" dirty="0">
                <a:solidFill>
                  <a:schemeClr val="tx1"/>
                </a:solidFill>
                <a:latin typeface="+mn-lt"/>
              </a:rPr>
              <a:t>A React frontend and FastAPI backend are used to provide an interactive travel planning platform.</a:t>
            </a:r>
          </a:p>
          <a:p>
            <a:pPr lvl="0" algn="just"/>
            <a:r>
              <a:rPr lang="en-US" altLang="en-GB" sz="2400" b="0" dirty="0">
                <a:solidFill>
                  <a:schemeClr val="tx1"/>
                </a:solidFill>
                <a:latin typeface="+mn-lt"/>
              </a:rPr>
              <a:t>The system aims to make travel planning personalized, structured, and data-driven.</a:t>
            </a:r>
          </a:p>
        </p:txBody>
      </p:sp>
      <p:sp>
        <p:nvSpPr>
          <p:cNvPr id="3" name="TextBox 2"/>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a:ln>
                  <a:noFill/>
                </a:ln>
                <a:effectLst/>
                <a:uLnTx/>
                <a:uFillTx/>
                <a:latin typeface="Calibri" panose="020F0502020204030204"/>
                <a:ea typeface="+mn-ea"/>
                <a:cs typeface="+mn-cs"/>
              </a:rPr>
              <a:t>Introduction</a:t>
            </a: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a:t>
            </a:r>
            <a:r>
              <a:rPr lang="en-US" b="1" i="1" dirty="0">
                <a:solidFill>
                  <a:srgbClr val="FFFFFF"/>
                </a:solidFill>
              </a:rPr>
              <a:t>AI Voyage Planner</a:t>
            </a: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064875" cy="4612005"/>
          </a:xfrm>
        </p:spPr>
        <p:txBody>
          <a:bodyPr/>
          <a:lstStyle/>
          <a:p>
            <a:pPr lvl="0" algn="just"/>
            <a:r>
              <a:rPr lang="en-US" altLang="en-GB" sz="2400" b="0" dirty="0">
                <a:solidFill>
                  <a:schemeClr val="tx1"/>
                </a:solidFill>
                <a:latin typeface="Calibri" panose="020F0502020204030204" pitchFamily="34" charset="0"/>
              </a:rPr>
              <a:t>To develop an AI-based personalized travel planning system.</a:t>
            </a:r>
          </a:p>
          <a:p>
            <a:pPr lvl="0" algn="just"/>
            <a:r>
              <a:rPr lang="en-US" altLang="en-GB" sz="2400" b="0" dirty="0">
                <a:solidFill>
                  <a:schemeClr val="tx1"/>
                </a:solidFill>
                <a:latin typeface="Calibri" panose="020F0502020204030204" pitchFamily="34" charset="0"/>
              </a:rPr>
              <a:t>To generate day-wise itineraries based on destination, duration, budget, interests, and number of travelers.</a:t>
            </a:r>
          </a:p>
          <a:p>
            <a:pPr lvl="0" algn="just"/>
            <a:r>
              <a:rPr lang="en-US" altLang="en-GB" sz="2400" b="0" dirty="0">
                <a:solidFill>
                  <a:schemeClr val="tx1"/>
                </a:solidFill>
                <a:latin typeface="Calibri" panose="020F0502020204030204" pitchFamily="34" charset="0"/>
              </a:rPr>
              <a:t>To retrieve real-world tourist places and restaurants using Geoapify APIs.</a:t>
            </a:r>
          </a:p>
          <a:p>
            <a:pPr lvl="0" algn="just"/>
            <a:r>
              <a:rPr lang="en-US" altLang="en-GB" sz="2400" b="0" dirty="0">
                <a:solidFill>
                  <a:schemeClr val="tx1"/>
                </a:solidFill>
                <a:latin typeface="Calibri" panose="020F0502020204030204" pitchFamily="34" charset="0"/>
              </a:rPr>
              <a:t>To provide weather information using the OpenWeather API.</a:t>
            </a:r>
          </a:p>
          <a:p>
            <a:pPr lvl="0" algn="just"/>
            <a:r>
              <a:rPr lang="en-US" altLang="en-GB" sz="2400" b="0" dirty="0">
                <a:solidFill>
                  <a:schemeClr val="tx1"/>
                </a:solidFill>
                <a:latin typeface="Calibri" panose="020F0502020204030204" pitchFamily="34" charset="0"/>
              </a:rPr>
              <a:t>To generate route information between the origin and destination.</a:t>
            </a:r>
          </a:p>
          <a:p>
            <a:pPr lvl="0" algn="just"/>
            <a:r>
              <a:rPr lang="en-US" altLang="en-GB" sz="2400" b="0" dirty="0">
                <a:solidFill>
                  <a:schemeClr val="tx1"/>
                </a:solidFill>
                <a:latin typeface="Calibri" panose="020F0502020204030204" pitchFamily="34" charset="0"/>
              </a:rPr>
              <a:t>To recommend hotels, restaurants, attractions, and local places.</a:t>
            </a:r>
          </a:p>
          <a:p>
            <a:pPr lvl="0" algn="just"/>
            <a:r>
              <a:rPr lang="en-US" altLang="en-GB" sz="2400" b="0" dirty="0">
                <a:solidFill>
                  <a:schemeClr val="tx1"/>
                </a:solidFill>
                <a:latin typeface="Calibri" panose="020F0502020204030204" pitchFamily="34" charset="0"/>
              </a:rPr>
              <a:t>To dynamically replan the itinerary based on changing user requirements.</a:t>
            </a:r>
          </a:p>
          <a:p>
            <a:pPr lvl="0" algn="just"/>
            <a:r>
              <a:rPr lang="en-US" altLang="en-GB" sz="2400" b="0" dirty="0">
                <a:solidFill>
                  <a:schemeClr val="tx1"/>
                </a:solidFill>
                <a:latin typeface="Calibri" panose="020F0502020204030204" pitchFamily="34" charset="0"/>
              </a:rPr>
              <a:t>To provide a user-friendly web interface using React and FastAPI.</a:t>
            </a:r>
          </a:p>
        </p:txBody>
      </p:sp>
      <p:sp>
        <p:nvSpPr>
          <p:cNvPr id="3" name="TextBox 2"/>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a:ln>
                  <a:noFill/>
                </a:ln>
                <a:effectLst/>
                <a:uLnTx/>
                <a:uFillTx/>
                <a:latin typeface="Calibri" panose="020F0502020204030204"/>
                <a:ea typeface="+mn-ea"/>
                <a:cs typeface="+mn-cs"/>
              </a:rPr>
              <a:t>Objective</a:t>
            </a: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a:t>
            </a:r>
            <a:r>
              <a:rPr lang="en-US" b="1" i="1" dirty="0">
                <a:solidFill>
                  <a:srgbClr val="FFFFFF"/>
                </a:solidFill>
              </a:rPr>
              <a:t>AI Voyage Planner</a:t>
            </a: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pPr lvl="1"/>
            <a:endParaRPr lang="en-US" dirty="0">
              <a:solidFill>
                <a:srgbClr val="1C3898"/>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latin typeface="Calibri" panose="020F0502020204030204"/>
              </a:rPr>
              <a:t>Module name</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4" name="Straight Connector 3"/>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093893" y="57036"/>
            <a:ext cx="6098107" cy="646331"/>
          </a:xfrm>
          <a:prstGeom prst="rect">
            <a:avLst/>
          </a:prstGeom>
          <a:noFill/>
        </p:spPr>
        <p:txBody>
          <a:bodyPr wrap="square" rtlCol="0">
            <a:spAutoFit/>
          </a:bodyPr>
          <a:lstStyle/>
          <a:p>
            <a:r>
              <a:rPr lang="en-US" b="1" i="1" dirty="0">
                <a:solidFill>
                  <a:srgbClr val="FFFFFF"/>
                </a:solidFill>
              </a:rPr>
              <a:t>                                                    Project Title -  AI Voyage Planner</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918201829"/>
              </p:ext>
            </p:extLst>
          </p:nvPr>
        </p:nvGraphicFramePr>
        <p:xfrm>
          <a:off x="289121" y="1314100"/>
          <a:ext cx="11152680" cy="4302877"/>
        </p:xfrm>
        <a:graphic>
          <a:graphicData uri="http://schemas.openxmlformats.org/drawingml/2006/table">
            <a:tbl>
              <a:tblPr>
                <a:tableStyleId>{5C22544A-7EE6-4342-B048-85BDC9FD1C3A}</a:tableStyleId>
              </a:tblPr>
              <a:tblGrid>
                <a:gridCol w="3717560">
                  <a:extLst>
                    <a:ext uri="{9D8B030D-6E8A-4147-A177-3AD203B41FA5}">
                      <a16:colId xmlns:a16="http://schemas.microsoft.com/office/drawing/2014/main" val="20000"/>
                    </a:ext>
                  </a:extLst>
                </a:gridCol>
                <a:gridCol w="3717560">
                  <a:extLst>
                    <a:ext uri="{9D8B030D-6E8A-4147-A177-3AD203B41FA5}">
                      <a16:colId xmlns:a16="http://schemas.microsoft.com/office/drawing/2014/main" val="20001"/>
                    </a:ext>
                  </a:extLst>
                </a:gridCol>
                <a:gridCol w="3717560">
                  <a:extLst>
                    <a:ext uri="{9D8B030D-6E8A-4147-A177-3AD203B41FA5}">
                      <a16:colId xmlns:a16="http://schemas.microsoft.com/office/drawing/2014/main" val="20002"/>
                    </a:ext>
                  </a:extLst>
                </a:gridCol>
              </a:tblGrid>
              <a:tr h="246483">
                <a:tc>
                  <a:txBody>
                    <a:bodyPr/>
                    <a:lstStyle/>
                    <a:p>
                      <a:pPr algn="ctr"/>
                      <a:r>
                        <a:rPr sz="1100"/>
                        <a:t>S.No</a:t>
                      </a:r>
                    </a:p>
                  </a:txBody>
                  <a:tcPr marL="0" marR="0" marT="0" marB="0" anchor="ctr"/>
                </a:tc>
                <a:tc>
                  <a:txBody>
                    <a:bodyPr/>
                    <a:lstStyle/>
                    <a:p>
                      <a:pPr algn="ctr"/>
                      <a:r>
                        <a:rPr sz="1100"/>
                        <a:t>Module Name</a:t>
                      </a:r>
                    </a:p>
                  </a:txBody>
                  <a:tcPr marL="0" marR="0" marT="0" marB="0" anchor="ctr"/>
                </a:tc>
                <a:tc>
                  <a:txBody>
                    <a:bodyPr/>
                    <a:lstStyle/>
                    <a:p>
                      <a:pPr algn="ctr"/>
                      <a:r>
                        <a:rPr sz="1100"/>
                        <a:t>Description</a:t>
                      </a:r>
                    </a:p>
                  </a:txBody>
                  <a:tcPr marL="0" marR="0" marT="0" marB="0" anchor="ctr"/>
                </a:tc>
                <a:extLst>
                  <a:ext uri="{0D108BD9-81ED-4DB2-BD59-A6C34878D82A}">
                    <a16:rowId xmlns:a16="http://schemas.microsoft.com/office/drawing/2014/main" val="10000"/>
                  </a:ext>
                </a:extLst>
              </a:tr>
              <a:tr h="449192">
                <a:tc>
                  <a:txBody>
                    <a:bodyPr/>
                    <a:lstStyle/>
                    <a:p>
                      <a:pPr algn="ctr"/>
                      <a:r>
                        <a:rPr sz="1100"/>
                        <a:t>1</a:t>
                      </a:r>
                    </a:p>
                  </a:txBody>
                  <a:tcPr marL="0" marR="0" marT="0" marB="0" anchor="ctr"/>
                </a:tc>
                <a:tc>
                  <a:txBody>
                    <a:bodyPr/>
                    <a:lstStyle/>
                    <a:p>
                      <a:pPr algn="ctr"/>
                      <a:r>
                        <a:rPr sz="1100"/>
                        <a:t>User Input</a:t>
                      </a:r>
                    </a:p>
                  </a:txBody>
                  <a:tcPr marL="0" marR="0" marT="0" marB="0" anchor="ctr"/>
                </a:tc>
                <a:tc>
                  <a:txBody>
                    <a:bodyPr/>
                    <a:lstStyle/>
                    <a:p>
                      <a:pPr algn="ctr"/>
                      <a:r>
                        <a:rPr sz="1100"/>
                        <a:t>Accepts origin, destination, dates, travelers, budget and interests</a:t>
                      </a:r>
                    </a:p>
                  </a:txBody>
                  <a:tcPr marL="0" marR="0" marT="0" marB="0" anchor="ctr"/>
                </a:tc>
                <a:extLst>
                  <a:ext uri="{0D108BD9-81ED-4DB2-BD59-A6C34878D82A}">
                    <a16:rowId xmlns:a16="http://schemas.microsoft.com/office/drawing/2014/main" val="10001"/>
                  </a:ext>
                </a:extLst>
              </a:tr>
              <a:tr h="449192">
                <a:tc>
                  <a:txBody>
                    <a:bodyPr/>
                    <a:lstStyle/>
                    <a:p>
                      <a:pPr algn="ctr"/>
                      <a:r>
                        <a:rPr sz="1100"/>
                        <a:t>2</a:t>
                      </a:r>
                    </a:p>
                  </a:txBody>
                  <a:tcPr marL="0" marR="0" marT="0" marB="0" anchor="ctr"/>
                </a:tc>
                <a:tc>
                  <a:txBody>
                    <a:bodyPr/>
                    <a:lstStyle/>
                    <a:p>
                      <a:pPr algn="ctr"/>
                      <a:r>
                        <a:rPr sz="1100"/>
                        <a:t>Destination Processing</a:t>
                      </a:r>
                    </a:p>
                  </a:txBody>
                  <a:tcPr marL="0" marR="0" marT="0" marB="0" anchor="ctr"/>
                </a:tc>
                <a:tc>
                  <a:txBody>
                    <a:bodyPr/>
                    <a:lstStyle/>
                    <a:p>
                      <a:pPr algn="ctr"/>
                      <a:r>
                        <a:rPr sz="1100"/>
                        <a:t>Identifies and processes the selected destination</a:t>
                      </a:r>
                    </a:p>
                  </a:txBody>
                  <a:tcPr marL="0" marR="0" marT="0" marB="0" anchor="ctr"/>
                </a:tc>
                <a:extLst>
                  <a:ext uri="{0D108BD9-81ED-4DB2-BD59-A6C34878D82A}">
                    <a16:rowId xmlns:a16="http://schemas.microsoft.com/office/drawing/2014/main" val="10002"/>
                  </a:ext>
                </a:extLst>
              </a:tr>
              <a:tr h="449192">
                <a:tc>
                  <a:txBody>
                    <a:bodyPr/>
                    <a:lstStyle/>
                    <a:p>
                      <a:pPr algn="ctr"/>
                      <a:r>
                        <a:rPr sz="1100"/>
                        <a:t>3</a:t>
                      </a:r>
                    </a:p>
                  </a:txBody>
                  <a:tcPr marL="0" marR="0" marT="0" marB="0" anchor="ctr"/>
                </a:tc>
                <a:tc>
                  <a:txBody>
                    <a:bodyPr/>
                    <a:lstStyle/>
                    <a:p>
                      <a:pPr algn="ctr"/>
                      <a:r>
                        <a:rPr sz="1100"/>
                        <a:t>Live Places Retrieval</a:t>
                      </a:r>
                    </a:p>
                  </a:txBody>
                  <a:tcPr marL="0" marR="0" marT="0" marB="0" anchor="ctr"/>
                </a:tc>
                <a:tc>
                  <a:txBody>
                    <a:bodyPr/>
                    <a:lstStyle/>
                    <a:p>
                      <a:pPr algn="ctr"/>
                      <a:r>
                        <a:rPr sz="1100"/>
                        <a:t>Retrieves real tourist places using Geoapify</a:t>
                      </a:r>
                    </a:p>
                  </a:txBody>
                  <a:tcPr marL="0" marR="0" marT="0" marB="0" anchor="ctr"/>
                </a:tc>
                <a:extLst>
                  <a:ext uri="{0D108BD9-81ED-4DB2-BD59-A6C34878D82A}">
                    <a16:rowId xmlns:a16="http://schemas.microsoft.com/office/drawing/2014/main" val="10003"/>
                  </a:ext>
                </a:extLst>
              </a:tr>
              <a:tr h="449192">
                <a:tc>
                  <a:txBody>
                    <a:bodyPr/>
                    <a:lstStyle/>
                    <a:p>
                      <a:pPr algn="ctr"/>
                      <a:r>
                        <a:rPr sz="1100"/>
                        <a:t>4</a:t>
                      </a:r>
                    </a:p>
                  </a:txBody>
                  <a:tcPr marL="0" marR="0" marT="0" marB="0" anchor="ctr"/>
                </a:tc>
                <a:tc>
                  <a:txBody>
                    <a:bodyPr/>
                    <a:lstStyle/>
                    <a:p>
                      <a:pPr algn="ctr"/>
                      <a:r>
                        <a:rPr sz="1100"/>
                        <a:t>Restaurant Recommendation</a:t>
                      </a:r>
                    </a:p>
                  </a:txBody>
                  <a:tcPr marL="0" marR="0" marT="0" marB="0" anchor="ctr"/>
                </a:tc>
                <a:tc>
                  <a:txBody>
                    <a:bodyPr/>
                    <a:lstStyle/>
                    <a:p>
                      <a:pPr algn="ctr"/>
                      <a:r>
                        <a:rPr sz="1100"/>
                        <a:t>Provides breakfast, lunch and dinner recommendations</a:t>
                      </a:r>
                    </a:p>
                  </a:txBody>
                  <a:tcPr marL="0" marR="0" marT="0" marB="0" anchor="ctr"/>
                </a:tc>
                <a:extLst>
                  <a:ext uri="{0D108BD9-81ED-4DB2-BD59-A6C34878D82A}">
                    <a16:rowId xmlns:a16="http://schemas.microsoft.com/office/drawing/2014/main" val="10004"/>
                  </a:ext>
                </a:extLst>
              </a:tr>
              <a:tr h="449192">
                <a:tc>
                  <a:txBody>
                    <a:bodyPr/>
                    <a:lstStyle/>
                    <a:p>
                      <a:pPr algn="ctr"/>
                      <a:r>
                        <a:rPr sz="1100"/>
                        <a:t>5</a:t>
                      </a:r>
                    </a:p>
                  </a:txBody>
                  <a:tcPr marL="0" marR="0" marT="0" marB="0" anchor="ctr"/>
                </a:tc>
                <a:tc>
                  <a:txBody>
                    <a:bodyPr/>
                    <a:lstStyle/>
                    <a:p>
                      <a:pPr algn="ctr"/>
                      <a:r>
                        <a:rPr sz="1100"/>
                        <a:t>Weather Information</a:t>
                      </a:r>
                    </a:p>
                  </a:txBody>
                  <a:tcPr marL="0" marR="0" marT="0" marB="0" anchor="ctr"/>
                </a:tc>
                <a:tc>
                  <a:txBody>
                    <a:bodyPr/>
                    <a:lstStyle/>
                    <a:p>
                      <a:pPr algn="ctr"/>
                      <a:r>
                        <a:rPr sz="1100"/>
                        <a:t>Retrieves destination weather information</a:t>
                      </a:r>
                    </a:p>
                  </a:txBody>
                  <a:tcPr marL="0" marR="0" marT="0" marB="0" anchor="ctr"/>
                </a:tc>
                <a:extLst>
                  <a:ext uri="{0D108BD9-81ED-4DB2-BD59-A6C34878D82A}">
                    <a16:rowId xmlns:a16="http://schemas.microsoft.com/office/drawing/2014/main" val="10005"/>
                  </a:ext>
                </a:extLst>
              </a:tr>
              <a:tr h="603478">
                <a:tc>
                  <a:txBody>
                    <a:bodyPr/>
                    <a:lstStyle/>
                    <a:p>
                      <a:pPr algn="ctr"/>
                      <a:r>
                        <a:rPr sz="1100"/>
                        <a:t>6</a:t>
                      </a:r>
                    </a:p>
                  </a:txBody>
                  <a:tcPr marL="0" marR="0" marT="0" marB="0" anchor="ctr"/>
                </a:tc>
                <a:tc>
                  <a:txBody>
                    <a:bodyPr/>
                    <a:lstStyle/>
                    <a:p>
                      <a:pPr algn="ctr"/>
                      <a:r>
                        <a:rPr sz="1100"/>
                        <a:t>Route Planning</a:t>
                      </a:r>
                    </a:p>
                  </a:txBody>
                  <a:tcPr marL="0" marR="0" marT="0" marB="0" anchor="ctr"/>
                </a:tc>
                <a:tc>
                  <a:txBody>
                    <a:bodyPr/>
                    <a:lstStyle/>
                    <a:p>
                      <a:pPr algn="ctr"/>
                      <a:r>
                        <a:rPr sz="1100"/>
                        <a:t>Calculates route and distance between origin and destination</a:t>
                      </a:r>
                    </a:p>
                  </a:txBody>
                  <a:tcPr marL="0" marR="0" marT="0" marB="0" anchor="ctr"/>
                </a:tc>
                <a:extLst>
                  <a:ext uri="{0D108BD9-81ED-4DB2-BD59-A6C34878D82A}">
                    <a16:rowId xmlns:a16="http://schemas.microsoft.com/office/drawing/2014/main" val="10006"/>
                  </a:ext>
                </a:extLst>
              </a:tr>
              <a:tr h="603478">
                <a:tc>
                  <a:txBody>
                    <a:bodyPr/>
                    <a:lstStyle/>
                    <a:p>
                      <a:pPr algn="ctr"/>
                      <a:r>
                        <a:rPr sz="1100"/>
                        <a:t>7</a:t>
                      </a:r>
                    </a:p>
                  </a:txBody>
                  <a:tcPr marL="0" marR="0" marT="0" marB="0" anchor="ctr"/>
                </a:tc>
                <a:tc>
                  <a:txBody>
                    <a:bodyPr/>
                    <a:lstStyle/>
                    <a:p>
                      <a:pPr algn="ctr"/>
                      <a:r>
                        <a:rPr sz="1100"/>
                        <a:t>Smart Itinerary Generation</a:t>
                      </a:r>
                    </a:p>
                  </a:txBody>
                  <a:tcPr marL="0" marR="0" marT="0" marB="0" anchor="ctr"/>
                </a:tc>
                <a:tc>
                  <a:txBody>
                    <a:bodyPr/>
                    <a:lstStyle/>
                    <a:p>
                      <a:pPr algn="ctr"/>
                      <a:r>
                        <a:rPr sz="1100"/>
                        <a:t>Creates morning, afternoon and evening activities</a:t>
                      </a:r>
                    </a:p>
                  </a:txBody>
                  <a:tcPr marL="0" marR="0" marT="0" marB="0" anchor="ctr"/>
                </a:tc>
                <a:extLst>
                  <a:ext uri="{0D108BD9-81ED-4DB2-BD59-A6C34878D82A}">
                    <a16:rowId xmlns:a16="http://schemas.microsoft.com/office/drawing/2014/main" val="10007"/>
                  </a:ext>
                </a:extLst>
              </a:tr>
              <a:tr h="603478">
                <a:tc>
                  <a:txBody>
                    <a:bodyPr/>
                    <a:lstStyle/>
                    <a:p>
                      <a:pPr algn="ctr"/>
                      <a:r>
                        <a:rPr sz="1100"/>
                        <a:t>8</a:t>
                      </a:r>
                    </a:p>
                  </a:txBody>
                  <a:tcPr marL="0" marR="0" marT="0" marB="0" anchor="ctr"/>
                </a:tc>
                <a:tc>
                  <a:txBody>
                    <a:bodyPr/>
                    <a:lstStyle/>
                    <a:p>
                      <a:pPr algn="ctr"/>
                      <a:r>
                        <a:rPr sz="1100"/>
                        <a:t>Hotel &amp; Local Place Recommendation</a:t>
                      </a:r>
                    </a:p>
                  </a:txBody>
                  <a:tcPr marL="0" marR="0" marT="0" marB="0" anchor="ctr"/>
                </a:tc>
                <a:tc>
                  <a:txBody>
                    <a:bodyPr/>
                    <a:lstStyle/>
                    <a:p>
                      <a:pPr algn="ctr"/>
                      <a:r>
                        <a:rPr sz="1100" dirty="0"/>
                        <a:t>Displays available hotels and local places</a:t>
                      </a:r>
                    </a:p>
                  </a:txBody>
                  <a:tcPr marL="0" marR="0" marT="0" marB="0" anchor="ct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134725" cy="4422775"/>
          </a:xfrm>
        </p:spPr>
        <p:txBody>
          <a:bodyPr/>
          <a:lstStyle/>
          <a:p>
            <a:pPr lvl="0" algn="just"/>
            <a:r>
              <a:rPr lang="en-US" altLang="en-GB" sz="2400" b="0" dirty="0">
                <a:solidFill>
                  <a:schemeClr val="tx1"/>
                </a:solidFill>
                <a:latin typeface="+mn-lt"/>
              </a:rPr>
              <a:t>Travel planning requires information from multiple platforms.</a:t>
            </a:r>
          </a:p>
          <a:p>
            <a:pPr lvl="0" algn="just"/>
            <a:r>
              <a:rPr lang="en-US" altLang="en-GB" sz="2400" b="0" dirty="0">
                <a:solidFill>
                  <a:schemeClr val="tx1"/>
                </a:solidFill>
                <a:latin typeface="+mn-lt"/>
              </a:rPr>
              <a:t>Users need to manually compare destinations, attractions, restaurants, hotels and transportation.</a:t>
            </a:r>
          </a:p>
          <a:p>
            <a:pPr lvl="0" algn="just"/>
            <a:r>
              <a:rPr lang="en-US" altLang="en-GB" sz="2400" b="0" dirty="0">
                <a:solidFill>
                  <a:schemeClr val="tx1"/>
                </a:solidFill>
                <a:latin typeface="+mn-lt"/>
              </a:rPr>
              <a:t>Existing travel planners often provide generic itineraries instead of highly personalized plans.</a:t>
            </a:r>
          </a:p>
          <a:p>
            <a:pPr lvl="0" algn="just"/>
            <a:r>
              <a:rPr lang="en-US" altLang="en-GB" sz="2400" b="0" dirty="0">
                <a:solidFill>
                  <a:schemeClr val="tx1"/>
                </a:solidFill>
                <a:latin typeface="+mn-lt"/>
              </a:rPr>
              <a:t>Static travel plans cannot easily adapt when user requirements change.</a:t>
            </a:r>
          </a:p>
          <a:p>
            <a:pPr lvl="0" algn="just"/>
            <a:r>
              <a:rPr lang="en-US" altLang="en-GB" sz="2400" b="0" dirty="0">
                <a:solidFill>
                  <a:schemeClr val="tx1"/>
                </a:solidFill>
                <a:latin typeface="+mn-lt"/>
              </a:rPr>
              <a:t>Live information such as weather, routes and nearby places must be obtained from external sources.</a:t>
            </a:r>
          </a:p>
          <a:p>
            <a:pPr lvl="0" algn="just"/>
            <a:r>
              <a:rPr lang="en-US" altLang="en-GB" sz="2400" b="0" dirty="0">
                <a:solidFill>
                  <a:schemeClr val="tx1"/>
                </a:solidFill>
                <a:latin typeface="+mn-lt"/>
              </a:rPr>
              <a:t>Therefore, there is a need for an AI-powered travel planner that combines personalization, retrieval, live APIs and dynamic itinerary generation.</a:t>
            </a: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t>Problem Statement</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a:t>
            </a:r>
            <a:r>
              <a:rPr lang="en-US" b="1" i="1" dirty="0">
                <a:solidFill>
                  <a:srgbClr val="FFFFFF"/>
                </a:solidFill>
              </a:rPr>
              <a:t>AI Voyage Planner</a:t>
            </a: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5731B78-6015-FE04-31E6-4DD9CA307099}"/>
              </a:ext>
            </a:extLst>
          </p:cNvPr>
          <p:cNvPicPr>
            <a:picLocks noChangeAspect="1"/>
          </p:cNvPicPr>
          <p:nvPr/>
        </p:nvPicPr>
        <p:blipFill>
          <a:blip r:embed="rId2"/>
          <a:stretch>
            <a:fillRect/>
          </a:stretch>
        </p:blipFill>
        <p:spPr>
          <a:xfrm>
            <a:off x="1034142" y="1171596"/>
            <a:ext cx="10069287" cy="4975998"/>
          </a:xfrm>
          <a:prstGeom prst="rect">
            <a:avLst/>
          </a:prstGeom>
        </p:spPr>
      </p:pic>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t>Methodology</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AI Voyage Planner</a:t>
            </a: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7FEF23A-E17C-8787-FE25-1F0BA913215D}"/>
              </a:ext>
            </a:extLst>
          </p:cNvPr>
          <p:cNvSpPr>
            <a:spLocks noGrp="1"/>
          </p:cNvSpPr>
          <p:nvPr>
            <p:ph type="title"/>
          </p:nvPr>
        </p:nvSpPr>
        <p:spPr>
          <a:xfrm>
            <a:off x="838200" y="365125"/>
            <a:ext cx="10515600" cy="1325563"/>
          </a:xfrm>
        </p:spPr>
        <p:txBody>
          <a:bodyPr>
            <a:normAutofit/>
          </a:bodyPr>
          <a:lstStyle/>
          <a:p>
            <a:pPr marL="0" indent="0">
              <a:buNone/>
            </a:pPr>
            <a:r>
              <a:rPr lang="en-GB" b="1" dirty="0"/>
              <a:t>Technology</a:t>
            </a:r>
            <a:r>
              <a:rPr lang="en-GB" dirty="0"/>
              <a:t> </a:t>
            </a:r>
            <a:r>
              <a:rPr lang="en-GB" b="1" dirty="0"/>
              <a:t>Stack</a:t>
            </a:r>
            <a:endParaRPr lang="en-IN" b="1" dirty="0"/>
          </a:p>
        </p:txBody>
      </p:sp>
      <p:graphicFrame>
        <p:nvGraphicFramePr>
          <p:cNvPr id="4" name="Table 3">
            <a:extLst>
              <a:ext uri="{FF2B5EF4-FFF2-40B4-BE49-F238E27FC236}">
                <a16:creationId xmlns:a16="http://schemas.microsoft.com/office/drawing/2014/main" id="{E7E0FBE3-C6D9-533C-F66B-96D5518AA994}"/>
              </a:ext>
            </a:extLst>
          </p:cNvPr>
          <p:cNvGraphicFramePr>
            <a:graphicFrameLocks noGrp="1"/>
          </p:cNvGraphicFramePr>
          <p:nvPr>
            <p:extLst>
              <p:ext uri="{D42A27DB-BD31-4B8C-83A1-F6EECF244321}">
                <p14:modId xmlns:p14="http://schemas.microsoft.com/office/powerpoint/2010/main" val="2070833119"/>
              </p:ext>
            </p:extLst>
          </p:nvPr>
        </p:nvGraphicFramePr>
        <p:xfrm>
          <a:off x="677271" y="1140031"/>
          <a:ext cx="11004448" cy="4694892"/>
        </p:xfrm>
        <a:graphic>
          <a:graphicData uri="http://schemas.openxmlformats.org/drawingml/2006/table">
            <a:tbl>
              <a:tblPr>
                <a:tableStyleId>{5C22544A-7EE6-4342-B048-85BDC9FD1C3A}</a:tableStyleId>
              </a:tblPr>
              <a:tblGrid>
                <a:gridCol w="1619666">
                  <a:extLst>
                    <a:ext uri="{9D8B030D-6E8A-4147-A177-3AD203B41FA5}">
                      <a16:colId xmlns:a16="http://schemas.microsoft.com/office/drawing/2014/main" val="999635700"/>
                    </a:ext>
                  </a:extLst>
                </a:gridCol>
                <a:gridCol w="2431267">
                  <a:extLst>
                    <a:ext uri="{9D8B030D-6E8A-4147-A177-3AD203B41FA5}">
                      <a16:colId xmlns:a16="http://schemas.microsoft.com/office/drawing/2014/main" val="738751340"/>
                    </a:ext>
                  </a:extLst>
                </a:gridCol>
                <a:gridCol w="2308790">
                  <a:extLst>
                    <a:ext uri="{9D8B030D-6E8A-4147-A177-3AD203B41FA5}">
                      <a16:colId xmlns:a16="http://schemas.microsoft.com/office/drawing/2014/main" val="3622916028"/>
                    </a:ext>
                  </a:extLst>
                </a:gridCol>
                <a:gridCol w="4644725">
                  <a:extLst>
                    <a:ext uri="{9D8B030D-6E8A-4147-A177-3AD203B41FA5}">
                      <a16:colId xmlns:a16="http://schemas.microsoft.com/office/drawing/2014/main" val="4101872849"/>
                    </a:ext>
                  </a:extLst>
                </a:gridCol>
              </a:tblGrid>
              <a:tr h="169293">
                <a:tc>
                  <a:txBody>
                    <a:bodyPr/>
                    <a:lstStyle/>
                    <a:p>
                      <a:pPr indent="0" algn="l">
                        <a:buNone/>
                      </a:pPr>
                      <a:r>
                        <a:rPr lang="en-IN" sz="700" dirty="0">
                          <a:effectLst/>
                        </a:rPr>
                        <a:t>Layer / Category</a:t>
                      </a:r>
                      <a:endParaRPr lang="en-IN" sz="700" b="0" i="0" dirty="0">
                        <a:solidFill>
                          <a:srgbClr val="CCCCCC"/>
                        </a:solidFill>
                        <a:effectLst/>
                        <a:latin typeface="Segoe WPC"/>
                      </a:endParaRPr>
                    </a:p>
                  </a:txBody>
                  <a:tcPr marL="22348" marR="22348" marT="11174" marB="11174" anchor="ctr"/>
                </a:tc>
                <a:tc>
                  <a:txBody>
                    <a:bodyPr/>
                    <a:lstStyle/>
                    <a:p>
                      <a:pPr indent="0" algn="l">
                        <a:buNone/>
                      </a:pPr>
                      <a:r>
                        <a:rPr lang="en-IN" sz="700">
                          <a:effectLst/>
                        </a:rPr>
                        <a:t>Technology / Library</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Role &amp; Functionality</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Detailed Explanation / Why It Was Used</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3416860798"/>
                  </a:ext>
                </a:extLst>
              </a:tr>
              <a:tr h="286980">
                <a:tc>
                  <a:txBody>
                    <a:bodyPr/>
                    <a:lstStyle/>
                    <a:p>
                      <a:pPr indent="0" algn="l">
                        <a:buNone/>
                      </a:pPr>
                      <a:r>
                        <a:rPr lang="en-IN" sz="700">
                          <a:effectLst/>
                        </a:rPr>
                        <a:t>Frontend Framework</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React 19</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Core UI Component Architecture</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Manages component lifecycles, dynamic UI state (day tabs, filter states, itinerary edits), and reactive view updates without full page reloads.</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3918353204"/>
                  </a:ext>
                </a:extLst>
              </a:tr>
              <a:tr h="169293">
                <a:tc>
                  <a:txBody>
                    <a:bodyPr/>
                    <a:lstStyle/>
                    <a:p>
                      <a:pPr indent="0" algn="l">
                        <a:buNone/>
                      </a:pPr>
                      <a:r>
                        <a:rPr lang="en-IN" sz="700">
                          <a:effectLst/>
                        </a:rPr>
                        <a:t>Build Tool &amp; Bundler</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Vite 8</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Development Server &amp; Production Bundler</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Provides lightning-fast Hot Module Replacement (HMR) and optimized build bundling for high performance.</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3950335650"/>
                  </a:ext>
                </a:extLst>
              </a:tr>
              <a:tr h="286980">
                <a:tc>
                  <a:txBody>
                    <a:bodyPr/>
                    <a:lstStyle/>
                    <a:p>
                      <a:pPr indent="0" algn="l">
                        <a:buNone/>
                      </a:pPr>
                      <a:r>
                        <a:rPr lang="en-IN" sz="700" dirty="0">
                          <a:effectLst/>
                        </a:rPr>
                        <a:t>Client Routing</a:t>
                      </a:r>
                      <a:endParaRPr lang="en-IN" sz="700" b="0" i="0" dirty="0">
                        <a:solidFill>
                          <a:srgbClr val="CCCCCC"/>
                        </a:solidFill>
                        <a:effectLst/>
                        <a:latin typeface="Segoe WPC"/>
                      </a:endParaRPr>
                    </a:p>
                  </a:txBody>
                  <a:tcPr marL="22348" marR="22348" marT="11174" marB="11174" anchor="ctr"/>
                </a:tc>
                <a:tc>
                  <a:txBody>
                    <a:bodyPr/>
                    <a:lstStyle/>
                    <a:p>
                      <a:pPr indent="0" algn="l">
                        <a:buNone/>
                      </a:pPr>
                      <a:r>
                        <a:rPr lang="en-IN" sz="700">
                          <a:effectLst/>
                        </a:rPr>
                        <a:t>React Router DOM v7</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Client-Side Page Routing</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Handles navigation between the Landing page (/), Trip Configuration form (/plan), and Itinerary Results (/results).</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2338944822"/>
                  </a:ext>
                </a:extLst>
              </a:tr>
              <a:tr h="286980">
                <a:tc>
                  <a:txBody>
                    <a:bodyPr/>
                    <a:lstStyle/>
                    <a:p>
                      <a:pPr indent="0" algn="l">
                        <a:buNone/>
                      </a:pPr>
                      <a:r>
                        <a:rPr lang="en-IN" sz="700" dirty="0">
                          <a:effectLst/>
                        </a:rPr>
                        <a:t>Styling &amp; Design System</a:t>
                      </a:r>
                      <a:endParaRPr lang="en-IN" sz="700" b="0" i="0" dirty="0">
                        <a:solidFill>
                          <a:srgbClr val="CCCCCC"/>
                        </a:solidFill>
                        <a:effectLst/>
                        <a:latin typeface="Segoe WPC"/>
                      </a:endParaRPr>
                    </a:p>
                  </a:txBody>
                  <a:tcPr marL="22348" marR="22348" marT="11174" marB="11174" anchor="ctr"/>
                </a:tc>
                <a:tc>
                  <a:txBody>
                    <a:bodyPr/>
                    <a:lstStyle/>
                    <a:p>
                      <a:pPr indent="0" algn="l">
                        <a:buNone/>
                      </a:pPr>
                      <a:r>
                        <a:rPr lang="en-IN" sz="700">
                          <a:effectLst/>
                        </a:rPr>
                        <a:t>Vanilla CSS + Glassmorphism</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Custom Design System &amp; Responsive Layout</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Custom, high-performance CSS system featuring dark mode aesthetics, frosted glass blur effects, smooth micro-animations, and responsive mobile-first grids.</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2022067475"/>
                  </a:ext>
                </a:extLst>
              </a:tr>
              <a:tr h="286980">
                <a:tc>
                  <a:txBody>
                    <a:bodyPr/>
                    <a:lstStyle/>
                    <a:p>
                      <a:pPr indent="0" algn="l">
                        <a:buNone/>
                      </a:pPr>
                      <a:r>
                        <a:rPr lang="en-IN" sz="700">
                          <a:effectLst/>
                        </a:rPr>
                        <a:t>Icons &amp; Visuals</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Lucide React</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Scalable Vector UI Icons</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Delivers lightweight, modern UI icons for weather conditions, meal categories, transport modes, and navigation pins.</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28915445"/>
                  </a:ext>
                </a:extLst>
              </a:tr>
              <a:tr h="286980">
                <a:tc>
                  <a:txBody>
                    <a:bodyPr/>
                    <a:lstStyle/>
                    <a:p>
                      <a:pPr indent="0" algn="l">
                        <a:buNone/>
                      </a:pPr>
                      <a:r>
                        <a:rPr lang="en-IN" sz="700">
                          <a:effectLst/>
                        </a:rPr>
                        <a:t>Backend Framework</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FastAPI (Python 3.10+)</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High-Performance REST API Engine</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Asynchronous, lightweight backend framework exposing fast endpoints (/api/plan-trip, /api/route, /api/places, /api/replan).</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1902050663"/>
                  </a:ext>
                </a:extLst>
              </a:tr>
              <a:tr h="169293">
                <a:tc>
                  <a:txBody>
                    <a:bodyPr/>
                    <a:lstStyle/>
                    <a:p>
                      <a:pPr indent="0" algn="l">
                        <a:buNone/>
                      </a:pPr>
                      <a:r>
                        <a:rPr lang="en-IN" sz="700">
                          <a:effectLst/>
                        </a:rPr>
                        <a:t>ASGI Web Server</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Uvicorn</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High-Concurrency Server</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Asynchronous server implementation running the FastAPI application with multi-client worker support.</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2073520067"/>
                  </a:ext>
                </a:extLst>
              </a:tr>
              <a:tr h="169293">
                <a:tc>
                  <a:txBody>
                    <a:bodyPr/>
                    <a:lstStyle/>
                    <a:p>
                      <a:pPr indent="0" algn="l">
                        <a:buNone/>
                      </a:pPr>
                      <a:r>
                        <a:rPr lang="en-IN" sz="700">
                          <a:effectLst/>
                        </a:rPr>
                        <a:t>Data Validation</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Pydantic</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Request &amp; Response Schema Validation</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Enforces strict type checking, sanitization, and data validation on user travel input payloads.</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3514485920"/>
                  </a:ext>
                </a:extLst>
              </a:tr>
              <a:tr h="286980">
                <a:tc>
                  <a:txBody>
                    <a:bodyPr/>
                    <a:lstStyle/>
                    <a:p>
                      <a:pPr indent="0" algn="l">
                        <a:buNone/>
                      </a:pPr>
                      <a:r>
                        <a:rPr lang="en-IN" sz="700">
                          <a:effectLst/>
                        </a:rPr>
                        <a:t>Generative AI &amp; LLM</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Google Gemini AI (gemini-pro / gemini-1.5)</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Itinerary Synthesis &amp; Dynamic Replanner</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Generates personalized, cohesive daily itineraries and dynamically adapts plans when disruptions (bad weather, traffic) occur.</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3710916566"/>
                  </a:ext>
                </a:extLst>
              </a:tr>
              <a:tr h="286980">
                <a:tc>
                  <a:txBody>
                    <a:bodyPr/>
                    <a:lstStyle/>
                    <a:p>
                      <a:pPr indent="0" algn="l">
                        <a:buNone/>
                      </a:pPr>
                      <a:r>
                        <a:rPr lang="en-IN" sz="700">
                          <a:effectLst/>
                        </a:rPr>
                        <a:t>RAG &amp; Semantic Retrieval</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Sentence-Transformers &amp; ChromaDB / Custom Embeddings</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Retrieval-Augmented Generation (RAG)</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Encodes travel POI metadata into high-dimensional vector embeddings for fast semantic similarity search and relevance ranking.</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643763616"/>
                  </a:ext>
                </a:extLst>
              </a:tr>
              <a:tr h="404667">
                <a:tc>
                  <a:txBody>
                    <a:bodyPr/>
                    <a:lstStyle/>
                    <a:p>
                      <a:pPr indent="0" algn="l">
                        <a:buNone/>
                      </a:pPr>
                      <a:r>
                        <a:rPr lang="en-IN" sz="700">
                          <a:effectLst/>
                        </a:rPr>
                        <a:t>Geospatial &amp; Mapping API</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Geoapify APIs</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Geocoding, Routing, Places &amp; Static Maps</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 Places v2: Live POIs, dining spots, attractions.</a:t>
                      </a:r>
                      <a:br>
                        <a:rPr lang="en-IN" sz="700">
                          <a:effectLst/>
                        </a:rPr>
                      </a:br>
                      <a:r>
                        <a:rPr lang="en-IN" sz="700">
                          <a:effectLst/>
                        </a:rPr>
                        <a:t>- Routing API: Live polylines, travel distance, and duration.</a:t>
                      </a:r>
                      <a:br>
                        <a:rPr lang="en-IN" sz="700">
                          <a:effectLst/>
                        </a:rPr>
                      </a:br>
                      <a:r>
                        <a:rPr lang="en-IN" sz="700">
                          <a:effectLst/>
                        </a:rPr>
                        <a:t>- Static Maps v1: Generates centered, subcontinent-wide India route maps.</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2788011765"/>
                  </a:ext>
                </a:extLst>
              </a:tr>
              <a:tr h="286980">
                <a:tc>
                  <a:txBody>
                    <a:bodyPr/>
                    <a:lstStyle/>
                    <a:p>
                      <a:pPr indent="0" algn="l">
                        <a:buNone/>
                      </a:pPr>
                      <a:r>
                        <a:rPr lang="en-IN" sz="700">
                          <a:effectLst/>
                        </a:rPr>
                        <a:t>Weather Forecast API</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OpenWeatherMap API</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Real-Time &amp; 5-Day Weather Intelligence</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Retrieves live temperatures, precipitation risks, and weather alerts to ensure outdoor safety and guide indoor/outdoor scheduling.</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4040606081"/>
                  </a:ext>
                </a:extLst>
              </a:tr>
              <a:tr h="286980">
                <a:tc>
                  <a:txBody>
                    <a:bodyPr/>
                    <a:lstStyle/>
                    <a:p>
                      <a:pPr indent="0" algn="l">
                        <a:buNone/>
                      </a:pPr>
                      <a:r>
                        <a:rPr lang="en-IN" sz="700">
                          <a:effectLst/>
                        </a:rPr>
                        <a:t>Spatial Calculations</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Geopy &amp; Haversine Algorithm</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Proximity Validation &amp; Distance Checks</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Calculates Great-Circle distances to enforce strict $\le 40\text{ km}$ destination proximity checks and $\le 25\text{ km}$ restaurant boundaries.</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2633621904"/>
                  </a:ext>
                </a:extLst>
              </a:tr>
              <a:tr h="169293">
                <a:tc>
                  <a:txBody>
                    <a:bodyPr/>
                    <a:lstStyle/>
                    <a:p>
                      <a:pPr indent="0" algn="l">
                        <a:buNone/>
                      </a:pPr>
                      <a:r>
                        <a:rPr lang="en-IN" sz="700">
                          <a:effectLst/>
                        </a:rPr>
                        <a:t>Data Processing</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Pandas &amp; NumPy</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Master Data Cleaning &amp; Indexing</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Ingests, filters, deduplicates, and manages master datasets of thousands of tourist spots across Indian cities.</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3531321883"/>
                  </a:ext>
                </a:extLst>
              </a:tr>
              <a:tr h="286980">
                <a:tc>
                  <a:txBody>
                    <a:bodyPr/>
                    <a:lstStyle/>
                    <a:p>
                      <a:pPr indent="0" algn="l">
                        <a:buNone/>
                      </a:pPr>
                      <a:r>
                        <a:rPr lang="en-IN" sz="700">
                          <a:effectLst/>
                        </a:rPr>
                        <a:t>Carbon Analytics</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Custom Carbon Calculator Engine</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Eco-Conscious Footprint Estimation</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Computes greenhouse gas emissions ($\text{kg CO}_2$) based on travel distance and chosen transportation mode (Flight, Train, Bus, Car).</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2900064112"/>
                  </a:ext>
                </a:extLst>
              </a:tr>
              <a:tr h="286980">
                <a:tc>
                  <a:txBody>
                    <a:bodyPr/>
                    <a:lstStyle/>
                    <a:p>
                      <a:pPr indent="0" algn="l">
                        <a:buNone/>
                      </a:pPr>
                      <a:r>
                        <a:rPr lang="en-IN" sz="700">
                          <a:effectLst/>
                        </a:rPr>
                        <a:t>Prototyping / Standalone App</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Streamlit (app.py)</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Rapid Prototyping &amp; Standalone Dashboard</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Allowed fast end-to-end testing of the AI travel planner logic, map rendering, and itinerary generation before the full React UI implementation.</a:t>
                      </a:r>
                      <a:endParaRPr lang="en-IN" sz="700" b="0" i="0">
                        <a:solidFill>
                          <a:srgbClr val="CCCCCC"/>
                        </a:solidFill>
                        <a:effectLst/>
                        <a:latin typeface="Segoe WPC"/>
                      </a:endParaRPr>
                    </a:p>
                  </a:txBody>
                  <a:tcPr marL="22348" marR="22348" marT="11174" marB="11174" anchor="ctr"/>
                </a:tc>
                <a:extLst>
                  <a:ext uri="{0D108BD9-81ED-4DB2-BD59-A6C34878D82A}">
                    <a16:rowId xmlns:a16="http://schemas.microsoft.com/office/drawing/2014/main" val="2409204822"/>
                  </a:ext>
                </a:extLst>
              </a:tr>
              <a:tr h="286980">
                <a:tc>
                  <a:txBody>
                    <a:bodyPr/>
                    <a:lstStyle/>
                    <a:p>
                      <a:pPr indent="0" algn="l">
                        <a:buNone/>
                      </a:pPr>
                      <a:r>
                        <a:rPr lang="en-IN" sz="700">
                          <a:effectLst/>
                        </a:rPr>
                        <a:t>Environment &amp; Security</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Python-Dotenv</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a:effectLst/>
                        </a:rPr>
                        <a:t>Secure Secrets &amp; API Key Management</a:t>
                      </a:r>
                      <a:endParaRPr lang="en-IN" sz="700" b="0" i="0">
                        <a:solidFill>
                          <a:srgbClr val="CCCCCC"/>
                        </a:solidFill>
                        <a:effectLst/>
                        <a:latin typeface="Segoe WPC"/>
                      </a:endParaRPr>
                    </a:p>
                  </a:txBody>
                  <a:tcPr marL="22348" marR="22348" marT="11174" marB="11174" anchor="ctr"/>
                </a:tc>
                <a:tc>
                  <a:txBody>
                    <a:bodyPr/>
                    <a:lstStyle/>
                    <a:p>
                      <a:pPr indent="0" algn="l">
                        <a:buNone/>
                      </a:pPr>
                      <a:r>
                        <a:rPr lang="en-IN" sz="700" dirty="0">
                          <a:effectLst/>
                        </a:rPr>
                        <a:t>Loads and isolates sensitive API keys (GEMINI_API_KEY, GEOAPIFY_API_KEY, OPENWEATHER_API_KEY) from version control.</a:t>
                      </a:r>
                      <a:endParaRPr lang="en-IN" sz="700" b="0" i="0" dirty="0">
                        <a:solidFill>
                          <a:srgbClr val="CCCCCC"/>
                        </a:solidFill>
                        <a:effectLst/>
                        <a:latin typeface="Segoe WPC"/>
                      </a:endParaRPr>
                    </a:p>
                  </a:txBody>
                  <a:tcPr marL="22348" marR="22348" marT="11174" marB="11174" anchor="ctr"/>
                </a:tc>
                <a:extLst>
                  <a:ext uri="{0D108BD9-81ED-4DB2-BD59-A6C34878D82A}">
                    <a16:rowId xmlns:a16="http://schemas.microsoft.com/office/drawing/2014/main" val="4024951324"/>
                  </a:ext>
                </a:extLst>
              </a:tr>
            </a:tbl>
          </a:graphicData>
        </a:graphic>
      </p:graphicFrame>
      <p:cxnSp>
        <p:nvCxnSpPr>
          <p:cNvPr id="5" name="Straight Connector 4">
            <a:extLst>
              <a:ext uri="{FF2B5EF4-FFF2-40B4-BE49-F238E27FC236}">
                <a16:creationId xmlns:a16="http://schemas.microsoft.com/office/drawing/2014/main" id="{55872F40-7913-13DF-0441-8E5D25675098}"/>
              </a:ext>
            </a:extLst>
          </p:cNvPr>
          <p:cNvCxnSpPr/>
          <p:nvPr/>
        </p:nvCxnSpPr>
        <p:spPr>
          <a:xfrm>
            <a:off x="411279" y="1025501"/>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6958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marL="0" indent="0">
              <a:lnSpc>
                <a:spcPct val="150000"/>
              </a:lnSpc>
              <a:buNone/>
            </a:pPr>
            <a:endParaRPr lang="en-US" sz="2400" b="0" dirty="0">
              <a:solidFill>
                <a:srgbClr val="5583D1"/>
              </a:solidFill>
              <a:latin typeface="+mn-lt"/>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t>Algorithms</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a:t>
            </a:r>
            <a:r>
              <a:rPr lang="en-US" b="1" i="1" dirty="0">
                <a:solidFill>
                  <a:srgbClr val="FFFFFF"/>
                </a:solidFill>
              </a:rPr>
              <a:t>AI Voyage Planner</a:t>
            </a:r>
            <a:endParaRPr lang="en-US" sz="1800" b="1" i="1" dirty="0">
              <a:solidFill>
                <a:srgbClr val="FFFFFF"/>
              </a:solidFill>
            </a:endParaRPr>
          </a:p>
          <a:p>
            <a:pPr algn="r"/>
            <a:endParaRPr lang="en-US" dirty="0"/>
          </a:p>
        </p:txBody>
      </p:sp>
      <p:graphicFrame>
        <p:nvGraphicFramePr>
          <p:cNvPr id="6" name="Table 5"/>
          <p:cNvGraphicFramePr>
            <a:graphicFrameLocks noGrp="1"/>
          </p:cNvGraphicFramePr>
          <p:nvPr>
            <p:custDataLst>
              <p:tags r:id="rId1"/>
            </p:custDataLst>
          </p:nvPr>
        </p:nvGraphicFramePr>
        <p:xfrm>
          <a:off x="255905" y="1371600"/>
          <a:ext cx="11004550" cy="3596005"/>
        </p:xfrm>
        <a:graphic>
          <a:graphicData uri="http://schemas.openxmlformats.org/drawingml/2006/table">
            <a:tbl>
              <a:tblPr>
                <a:tableStyleId>{5C22544A-7EE6-4342-B048-85BDC9FD1C3A}</a:tableStyleId>
              </a:tblPr>
              <a:tblGrid>
                <a:gridCol w="3668395">
                  <a:extLst>
                    <a:ext uri="{9D8B030D-6E8A-4147-A177-3AD203B41FA5}">
                      <a16:colId xmlns:a16="http://schemas.microsoft.com/office/drawing/2014/main" val="20000"/>
                    </a:ext>
                  </a:extLst>
                </a:gridCol>
                <a:gridCol w="3667760">
                  <a:extLst>
                    <a:ext uri="{9D8B030D-6E8A-4147-A177-3AD203B41FA5}">
                      <a16:colId xmlns:a16="http://schemas.microsoft.com/office/drawing/2014/main" val="20001"/>
                    </a:ext>
                  </a:extLst>
                </a:gridCol>
                <a:gridCol w="3668395">
                  <a:extLst>
                    <a:ext uri="{9D8B030D-6E8A-4147-A177-3AD203B41FA5}">
                      <a16:colId xmlns:a16="http://schemas.microsoft.com/office/drawing/2014/main" val="20002"/>
                    </a:ext>
                  </a:extLst>
                </a:gridCol>
              </a:tblGrid>
              <a:tr h="359410">
                <a:tc>
                  <a:txBody>
                    <a:bodyPr/>
                    <a:lstStyle/>
                    <a:p>
                      <a:pPr algn="ctr"/>
                      <a:r>
                        <a:rPr sz="1100" b="1"/>
                        <a:t>Step</a:t>
                      </a:r>
                    </a:p>
                  </a:txBody>
                  <a:tcPr marL="0" marR="0" marT="0" marB="0" anchor="ctr"/>
                </a:tc>
                <a:tc>
                  <a:txBody>
                    <a:bodyPr/>
                    <a:lstStyle/>
                    <a:p>
                      <a:pPr algn="ctr"/>
                      <a:r>
                        <a:rPr sz="1100" b="1"/>
                        <a:t>Process</a:t>
                      </a:r>
                    </a:p>
                  </a:txBody>
                  <a:tcPr marL="0" marR="0" marT="0" marB="0" anchor="ctr"/>
                </a:tc>
                <a:tc>
                  <a:txBody>
                    <a:bodyPr/>
                    <a:lstStyle/>
                    <a:p>
                      <a:pPr algn="ctr"/>
                      <a:r>
                        <a:rPr sz="1100" b="1"/>
                        <a:t>Description</a:t>
                      </a:r>
                    </a:p>
                  </a:txBody>
                  <a:tcPr marL="0" marR="0" marT="0" marB="0" anchor="ctr"/>
                </a:tc>
                <a:extLst>
                  <a:ext uri="{0D108BD9-81ED-4DB2-BD59-A6C34878D82A}">
                    <a16:rowId xmlns:a16="http://schemas.microsoft.com/office/drawing/2014/main" val="10000"/>
                  </a:ext>
                </a:extLst>
              </a:tr>
              <a:tr h="719455">
                <a:tc>
                  <a:txBody>
                    <a:bodyPr/>
                    <a:lstStyle/>
                    <a:p>
                      <a:pPr algn="ctr"/>
                      <a:r>
                        <a:rPr sz="1100"/>
                        <a:t>1</a:t>
                      </a:r>
                    </a:p>
                  </a:txBody>
                  <a:tcPr marL="0" marR="0" marT="0" marB="0" anchor="ctr"/>
                </a:tc>
                <a:tc>
                  <a:txBody>
                    <a:bodyPr/>
                    <a:lstStyle/>
                    <a:p>
                      <a:pPr algn="ctr"/>
                      <a:r>
                        <a:rPr sz="1100"/>
                        <a:t>User Input</a:t>
                      </a:r>
                    </a:p>
                  </a:txBody>
                  <a:tcPr marL="0" marR="0" marT="0" marB="0" anchor="ctr"/>
                </a:tc>
                <a:tc>
                  <a:txBody>
                    <a:bodyPr/>
                    <a:lstStyle/>
                    <a:p>
                      <a:pPr algn="ctr"/>
                      <a:r>
                        <a:rPr sz="1100"/>
                        <a:t>Collect origin, destination, travel dates, number of travelers, budget, interests and food preference.</a:t>
                      </a:r>
                    </a:p>
                  </a:txBody>
                  <a:tcPr marL="0" marR="0" marT="0" marB="0" anchor="ctr"/>
                </a:tc>
                <a:extLst>
                  <a:ext uri="{0D108BD9-81ED-4DB2-BD59-A6C34878D82A}">
                    <a16:rowId xmlns:a16="http://schemas.microsoft.com/office/drawing/2014/main" val="10001"/>
                  </a:ext>
                </a:extLst>
              </a:tr>
              <a:tr h="359410">
                <a:tc>
                  <a:txBody>
                    <a:bodyPr/>
                    <a:lstStyle/>
                    <a:p>
                      <a:pPr algn="ctr"/>
                      <a:r>
                        <a:rPr sz="1100"/>
                        <a:t>2</a:t>
                      </a:r>
                    </a:p>
                  </a:txBody>
                  <a:tcPr marL="0" marR="0" marT="0" marB="0" anchor="ctr"/>
                </a:tc>
                <a:tc>
                  <a:txBody>
                    <a:bodyPr/>
                    <a:lstStyle/>
                    <a:p>
                      <a:pPr algn="ctr"/>
                      <a:r>
                        <a:rPr sz="1100"/>
                        <a:t>Trip Preprocessing</a:t>
                      </a:r>
                    </a:p>
                  </a:txBody>
                  <a:tcPr marL="0" marR="0" marT="0" marB="0" anchor="ctr"/>
                </a:tc>
                <a:tc>
                  <a:txBody>
                    <a:bodyPr/>
                    <a:lstStyle/>
                    <a:p>
                      <a:pPr algn="ctr"/>
                      <a:r>
                        <a:rPr sz="1100"/>
                        <a:t>Validate trip details and calculate the trip duration.</a:t>
                      </a:r>
                    </a:p>
                  </a:txBody>
                  <a:tcPr marL="0" marR="0" marT="0" marB="0" anchor="ctr"/>
                </a:tc>
                <a:extLst>
                  <a:ext uri="{0D108BD9-81ED-4DB2-BD59-A6C34878D82A}">
                    <a16:rowId xmlns:a16="http://schemas.microsoft.com/office/drawing/2014/main" val="10002"/>
                  </a:ext>
                </a:extLst>
              </a:tr>
              <a:tr h="719455">
                <a:tc>
                  <a:txBody>
                    <a:bodyPr/>
                    <a:lstStyle/>
                    <a:p>
                      <a:pPr algn="ctr"/>
                      <a:r>
                        <a:rPr sz="1100"/>
                        <a:t>3</a:t>
                      </a:r>
                    </a:p>
                  </a:txBody>
                  <a:tcPr marL="0" marR="0" marT="0" marB="0" anchor="ctr"/>
                </a:tc>
                <a:tc>
                  <a:txBody>
                    <a:bodyPr/>
                    <a:lstStyle/>
                    <a:p>
                      <a:pPr algn="ctr"/>
                      <a:r>
                        <a:rPr sz="1100"/>
                        <a:t>Live Data Retrieval</a:t>
                      </a:r>
                    </a:p>
                  </a:txBody>
                  <a:tcPr marL="0" marR="0" marT="0" marB="0" anchor="ctr"/>
                </a:tc>
                <a:tc>
                  <a:txBody>
                    <a:bodyPr/>
                    <a:lstStyle/>
                    <a:p>
                      <a:pPr algn="ctr"/>
                      <a:r>
                        <a:rPr sz="1100"/>
                        <a:t>Retrieve real tourist places, restaurants, hotels and local places using Geoapify API.</a:t>
                      </a:r>
                    </a:p>
                  </a:txBody>
                  <a:tcPr marL="0" marR="0" marT="0" marB="0" anchor="ctr"/>
                </a:tc>
                <a:extLst>
                  <a:ext uri="{0D108BD9-81ED-4DB2-BD59-A6C34878D82A}">
                    <a16:rowId xmlns:a16="http://schemas.microsoft.com/office/drawing/2014/main" val="10003"/>
                  </a:ext>
                </a:extLst>
              </a:tr>
              <a:tr h="718820">
                <a:tc>
                  <a:txBody>
                    <a:bodyPr/>
                    <a:lstStyle/>
                    <a:p>
                      <a:pPr algn="ctr"/>
                      <a:r>
                        <a:rPr sz="1100"/>
                        <a:t>4</a:t>
                      </a:r>
                    </a:p>
                  </a:txBody>
                  <a:tcPr marL="0" marR="0" marT="0" marB="0" anchor="ctr"/>
                </a:tc>
                <a:tc>
                  <a:txBody>
                    <a:bodyPr/>
                    <a:lstStyle/>
                    <a:p>
                      <a:pPr algn="ctr"/>
                      <a:r>
                        <a:rPr sz="1100"/>
                        <a:t>Knowledge Retrieval</a:t>
                      </a:r>
                    </a:p>
                  </a:txBody>
                  <a:tcPr marL="0" marR="0" marT="0" marB="0" anchor="ctr"/>
                </a:tc>
                <a:tc>
                  <a:txBody>
                    <a:bodyPr/>
                    <a:lstStyle/>
                    <a:p>
                      <a:pPr algn="ctr"/>
                      <a:r>
                        <a:rPr sz="1100"/>
                        <a:t>Retrieve relevant information from the available dataset / RAG knowledge base.</a:t>
                      </a:r>
                    </a:p>
                  </a:txBody>
                  <a:tcPr marL="0" marR="0" marT="0" marB="0" anchor="ctr"/>
                </a:tc>
                <a:extLst>
                  <a:ext uri="{0D108BD9-81ED-4DB2-BD59-A6C34878D82A}">
                    <a16:rowId xmlns:a16="http://schemas.microsoft.com/office/drawing/2014/main" val="10004"/>
                  </a:ext>
                </a:extLst>
              </a:tr>
              <a:tr h="719455">
                <a:tc>
                  <a:txBody>
                    <a:bodyPr/>
                    <a:lstStyle/>
                    <a:p>
                      <a:pPr algn="ctr"/>
                      <a:r>
                        <a:rPr sz="1100"/>
                        <a:t>5</a:t>
                      </a:r>
                    </a:p>
                  </a:txBody>
                  <a:tcPr marL="0" marR="0" marT="0" marB="0" anchor="ctr"/>
                </a:tc>
                <a:tc>
                  <a:txBody>
                    <a:bodyPr/>
                    <a:lstStyle/>
                    <a:p>
                      <a:pPr algn="ctr"/>
                      <a:r>
                        <a:rPr sz="1100"/>
                        <a:t>Context Formation</a:t>
                      </a:r>
                    </a:p>
                  </a:txBody>
                  <a:tcPr marL="0" marR="0" marT="0" marB="0" anchor="ctr"/>
                </a:tc>
                <a:tc>
                  <a:txBody>
                    <a:bodyPr/>
                    <a:lstStyle/>
                    <a:p>
                      <a:pPr algn="ctr"/>
                      <a:r>
                        <a:rPr sz="1100"/>
                        <a:t>Combine retrieved knowledge with live API data and user preferences.</a:t>
                      </a:r>
                    </a:p>
                  </a:txBody>
                  <a:tcPr marL="0" marR="0" marT="0" marB="0" anchor="ct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marL="0" indent="0">
              <a:lnSpc>
                <a:spcPct val="150000"/>
              </a:lnSpc>
              <a:buNone/>
            </a:pPr>
            <a:endParaRPr lang="en-US" sz="2400" b="0" dirty="0">
              <a:solidFill>
                <a:srgbClr val="5583D1"/>
              </a:solidFill>
              <a:latin typeface="+mn-lt"/>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t>Algorithms</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a:t>
            </a:r>
            <a:r>
              <a:rPr lang="en-US" b="1" i="1" dirty="0">
                <a:solidFill>
                  <a:srgbClr val="FFFFFF"/>
                </a:solidFill>
              </a:rPr>
              <a:t>AI Voyage Planner</a:t>
            </a:r>
            <a:endParaRPr lang="en-US" sz="1800" b="1" i="1" dirty="0">
              <a:solidFill>
                <a:srgbClr val="FFFFFF"/>
              </a:solidFill>
            </a:endParaRPr>
          </a:p>
          <a:p>
            <a:pPr algn="r"/>
            <a:endParaRPr lang="en-US" dirty="0"/>
          </a:p>
        </p:txBody>
      </p:sp>
      <p:graphicFrame>
        <p:nvGraphicFramePr>
          <p:cNvPr id="6" name="Table 5"/>
          <p:cNvGraphicFramePr>
            <a:graphicFrameLocks noGrp="1"/>
          </p:cNvGraphicFramePr>
          <p:nvPr>
            <p:custDataLst>
              <p:tags r:id="rId1"/>
            </p:custDataLst>
            <p:extLst>
              <p:ext uri="{D42A27DB-BD31-4B8C-83A1-F6EECF244321}">
                <p14:modId xmlns:p14="http://schemas.microsoft.com/office/powerpoint/2010/main" val="1452217669"/>
              </p:ext>
            </p:extLst>
          </p:nvPr>
        </p:nvGraphicFramePr>
        <p:xfrm>
          <a:off x="255905" y="1468120"/>
          <a:ext cx="11004550" cy="3832860"/>
        </p:xfrm>
        <a:graphic>
          <a:graphicData uri="http://schemas.openxmlformats.org/drawingml/2006/table">
            <a:tbl>
              <a:tblPr>
                <a:tableStyleId>{5C22544A-7EE6-4342-B048-85BDC9FD1C3A}</a:tableStyleId>
              </a:tblPr>
              <a:tblGrid>
                <a:gridCol w="3668395">
                  <a:extLst>
                    <a:ext uri="{9D8B030D-6E8A-4147-A177-3AD203B41FA5}">
                      <a16:colId xmlns:a16="http://schemas.microsoft.com/office/drawing/2014/main" val="20000"/>
                    </a:ext>
                  </a:extLst>
                </a:gridCol>
                <a:gridCol w="3667760">
                  <a:extLst>
                    <a:ext uri="{9D8B030D-6E8A-4147-A177-3AD203B41FA5}">
                      <a16:colId xmlns:a16="http://schemas.microsoft.com/office/drawing/2014/main" val="20001"/>
                    </a:ext>
                  </a:extLst>
                </a:gridCol>
                <a:gridCol w="3668395">
                  <a:extLst>
                    <a:ext uri="{9D8B030D-6E8A-4147-A177-3AD203B41FA5}">
                      <a16:colId xmlns:a16="http://schemas.microsoft.com/office/drawing/2014/main" val="20002"/>
                    </a:ext>
                  </a:extLst>
                </a:gridCol>
              </a:tblGrid>
              <a:tr h="403225">
                <a:tc>
                  <a:txBody>
                    <a:bodyPr/>
                    <a:lstStyle/>
                    <a:p>
                      <a:pPr algn="ctr">
                        <a:buNone/>
                      </a:pPr>
                      <a:r>
                        <a:rPr lang="en-IN"/>
                        <a:t>Step</a:t>
                      </a:r>
                    </a:p>
                  </a:txBody>
                  <a:tcPr anchor="ctr"/>
                </a:tc>
                <a:tc>
                  <a:txBody>
                    <a:bodyPr/>
                    <a:lstStyle/>
                    <a:p>
                      <a:pPr algn="ctr">
                        <a:buNone/>
                      </a:pPr>
                      <a:r>
                        <a:rPr lang="en-IN"/>
                        <a:t>Stage</a:t>
                      </a:r>
                    </a:p>
                  </a:txBody>
                  <a:tcPr anchor="ctr"/>
                </a:tc>
                <a:tc>
                  <a:txBody>
                    <a:bodyPr/>
                    <a:lstStyle/>
                    <a:p>
                      <a:pPr algn="ctr">
                        <a:buNone/>
                      </a:pPr>
                      <a:r>
                        <a:rPr lang="en-IN"/>
                        <a:t>Process</a:t>
                      </a:r>
                    </a:p>
                  </a:txBody>
                  <a:tcPr anchor="ctr"/>
                </a:tc>
                <a:extLst>
                  <a:ext uri="{0D108BD9-81ED-4DB2-BD59-A6C34878D82A}">
                    <a16:rowId xmlns:a16="http://schemas.microsoft.com/office/drawing/2014/main" val="10000"/>
                  </a:ext>
                </a:extLst>
              </a:tr>
              <a:tr h="1009015">
                <a:tc>
                  <a:txBody>
                    <a:bodyPr/>
                    <a:lstStyle/>
                    <a:p>
                      <a:pPr algn="ctr">
                        <a:buNone/>
                      </a:pPr>
                      <a:r>
                        <a:rPr lang="en-IN"/>
                        <a:t>6</a:t>
                      </a:r>
                    </a:p>
                  </a:txBody>
                  <a:tcPr anchor="ctr"/>
                </a:tc>
                <a:tc>
                  <a:txBody>
                    <a:bodyPr/>
                    <a:lstStyle/>
                    <a:p>
                      <a:pPr algn="ctr"/>
                      <a:r>
                        <a:rPr lang="en-US" sz="1100"/>
                        <a:t> </a:t>
                      </a:r>
                      <a:r>
                        <a:rPr sz="1800"/>
                        <a:t>Generative AI Processing</a:t>
                      </a:r>
                    </a:p>
                  </a:txBody>
                  <a:tcPr marL="0" marR="0" marT="0" marB="0" anchor="ctr"/>
                </a:tc>
                <a:tc>
                  <a:txBody>
                    <a:bodyPr/>
                    <a:lstStyle/>
                    <a:p>
                      <a:pPr algn="ctr">
                        <a:buNone/>
                      </a:pPr>
                      <a:r>
                        <a:rPr lang="en-US" altLang="en-GB"/>
                        <a:t>Process the retrieved context using the LLM to generate personalized recommendations.</a:t>
                      </a:r>
                    </a:p>
                  </a:txBody>
                  <a:tcPr anchor="ctr"/>
                </a:tc>
                <a:extLst>
                  <a:ext uri="{0D108BD9-81ED-4DB2-BD59-A6C34878D82A}">
                    <a16:rowId xmlns:a16="http://schemas.microsoft.com/office/drawing/2014/main" val="10001"/>
                  </a:ext>
                </a:extLst>
              </a:tr>
              <a:tr h="1008380">
                <a:tc>
                  <a:txBody>
                    <a:bodyPr/>
                    <a:lstStyle/>
                    <a:p>
                      <a:pPr algn="ctr">
                        <a:buNone/>
                      </a:pPr>
                      <a:r>
                        <a:rPr lang="en-IN"/>
                        <a:t>7</a:t>
                      </a:r>
                    </a:p>
                  </a:txBody>
                  <a:tcPr anchor="ctr"/>
                </a:tc>
                <a:tc>
                  <a:txBody>
                    <a:bodyPr/>
                    <a:lstStyle/>
                    <a:p>
                      <a:pPr algn="ctr">
                        <a:buNone/>
                      </a:pPr>
                      <a:r>
                        <a:rPr lang="en-US" altLang="en-GB"/>
                        <a:t>Smart Itinerary Generation</a:t>
                      </a:r>
                    </a:p>
                  </a:txBody>
                  <a:tcPr anchor="ctr"/>
                </a:tc>
                <a:tc>
                  <a:txBody>
                    <a:bodyPr/>
                    <a:lstStyle/>
                    <a:p>
                      <a:pPr algn="ctr">
                        <a:buNone/>
                      </a:pPr>
                      <a:r>
                        <a:rPr lang="en-US" altLang="en-GB"/>
                        <a:t>Generate a day-wise itinerary with morning, afternoon and evening activities.</a:t>
                      </a:r>
                    </a:p>
                  </a:txBody>
                  <a:tcPr anchor="ctr"/>
                </a:tc>
                <a:extLst>
                  <a:ext uri="{0D108BD9-81ED-4DB2-BD59-A6C34878D82A}">
                    <a16:rowId xmlns:a16="http://schemas.microsoft.com/office/drawing/2014/main" val="10002"/>
                  </a:ext>
                </a:extLst>
              </a:tr>
              <a:tr h="1009015">
                <a:tc>
                  <a:txBody>
                    <a:bodyPr/>
                    <a:lstStyle/>
                    <a:p>
                      <a:pPr algn="ctr">
                        <a:buNone/>
                      </a:pPr>
                      <a:r>
                        <a:rPr lang="en-IN"/>
                        <a:t>8</a:t>
                      </a:r>
                    </a:p>
                  </a:txBody>
                  <a:tcPr anchor="ctr"/>
                </a:tc>
                <a:tc>
                  <a:txBody>
                    <a:bodyPr/>
                    <a:lstStyle/>
                    <a:p>
                      <a:pPr algn="ctr">
                        <a:buNone/>
                      </a:pPr>
                      <a:r>
                        <a:rPr lang="en-US" altLang="en-GB"/>
                        <a:t>Recommendation Integration</a:t>
                      </a:r>
                    </a:p>
                  </a:txBody>
                  <a:tcPr anchor="ctr"/>
                </a:tc>
                <a:tc>
                  <a:txBody>
                    <a:bodyPr/>
                    <a:lstStyle/>
                    <a:p>
                      <a:pPr algn="ctr">
                        <a:buNone/>
                      </a:pPr>
                      <a:r>
                        <a:rPr lang="en-US" altLang="en-GB"/>
                        <a:t>Add restaurants, hotels, local places, weather information and route details.</a:t>
                      </a:r>
                    </a:p>
                  </a:txBody>
                  <a:tcPr anchor="ctr"/>
                </a:tc>
                <a:extLst>
                  <a:ext uri="{0D108BD9-81ED-4DB2-BD59-A6C34878D82A}">
                    <a16:rowId xmlns:a16="http://schemas.microsoft.com/office/drawing/2014/main" val="10003"/>
                  </a:ext>
                </a:extLst>
              </a:tr>
              <a:tr h="403225">
                <a:tc>
                  <a:txBody>
                    <a:bodyPr/>
                    <a:lstStyle/>
                    <a:p>
                      <a:pPr algn="ctr">
                        <a:buNone/>
                      </a:pPr>
                      <a:r>
                        <a:rPr lang="en-IN"/>
                        <a:t>9</a:t>
                      </a:r>
                    </a:p>
                  </a:txBody>
                  <a:tcPr anchor="ctr"/>
                </a:tc>
                <a:tc>
                  <a:txBody>
                    <a:bodyPr/>
                    <a:lstStyle/>
                    <a:p>
                      <a:pPr algn="ctr">
                        <a:buNone/>
                      </a:pPr>
                      <a:r>
                        <a:rPr lang="en-US" altLang="en-GB"/>
                        <a:t>Dynamic Replanning</a:t>
                      </a:r>
                    </a:p>
                  </a:txBody>
                  <a:tcPr anchor="ctr"/>
                </a:tc>
                <a:tc>
                  <a:txBody>
                    <a:bodyPr/>
                    <a:lstStyle/>
                    <a:p>
                      <a:pPr algn="ctr">
                        <a:buNone/>
                      </a:pPr>
                      <a:r>
                        <a:rPr lang="en-US" altLang="en-GB" dirty="0"/>
                        <a:t>Dynamic Replanning</a:t>
                      </a:r>
                      <a:r>
                        <a:rPr lang="en-IN" dirty="0"/>
                        <a:t>.</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t>Findings and Results</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a:t>
            </a:r>
            <a:r>
              <a:rPr lang="en-US" b="1" i="1" dirty="0">
                <a:solidFill>
                  <a:srgbClr val="FFFFFF"/>
                </a:solidFill>
              </a:rPr>
              <a:t>AI Voyage Planner</a:t>
            </a:r>
            <a:endParaRPr lang="en-US" sz="1800" b="1" i="1" dirty="0">
              <a:solidFill>
                <a:srgbClr val="FFFFFF"/>
              </a:solidFill>
            </a:endParaRPr>
          </a:p>
          <a:p>
            <a:pPr algn="r"/>
            <a:endParaRPr lang="en-US" dirty="0"/>
          </a:p>
        </p:txBody>
      </p:sp>
      <p:pic>
        <p:nvPicPr>
          <p:cNvPr id="9" name="Picture 8">
            <a:extLst>
              <a:ext uri="{FF2B5EF4-FFF2-40B4-BE49-F238E27FC236}">
                <a16:creationId xmlns:a16="http://schemas.microsoft.com/office/drawing/2014/main" id="{93BC1D69-C1EB-57A5-8ED2-76B1AD3DF6ED}"/>
              </a:ext>
            </a:extLst>
          </p:cNvPr>
          <p:cNvPicPr>
            <a:picLocks noChangeAspect="1"/>
          </p:cNvPicPr>
          <p:nvPr/>
        </p:nvPicPr>
        <p:blipFill>
          <a:blip r:embed="rId2"/>
          <a:stretch>
            <a:fillRect/>
          </a:stretch>
        </p:blipFill>
        <p:spPr>
          <a:xfrm>
            <a:off x="598714" y="1344156"/>
            <a:ext cx="5586115" cy="4588558"/>
          </a:xfrm>
          <a:prstGeom prst="rect">
            <a:avLst/>
          </a:prstGeom>
        </p:spPr>
      </p:pic>
      <p:pic>
        <p:nvPicPr>
          <p:cNvPr id="11" name="Picture 10">
            <a:extLst>
              <a:ext uri="{FF2B5EF4-FFF2-40B4-BE49-F238E27FC236}">
                <a16:creationId xmlns:a16="http://schemas.microsoft.com/office/drawing/2014/main" id="{37CC14EB-78C7-05B1-DDE4-C8B6256071BE}"/>
              </a:ext>
            </a:extLst>
          </p:cNvPr>
          <p:cNvPicPr>
            <a:picLocks noChangeAspect="1"/>
          </p:cNvPicPr>
          <p:nvPr/>
        </p:nvPicPr>
        <p:blipFill>
          <a:blip r:embed="rId3"/>
          <a:stretch>
            <a:fillRect/>
          </a:stretch>
        </p:blipFill>
        <p:spPr>
          <a:xfrm>
            <a:off x="6494310" y="1344156"/>
            <a:ext cx="5152351" cy="432208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t>Findings and Results</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a:t>
            </a:r>
            <a:r>
              <a:rPr lang="en-US" b="1" i="1" dirty="0">
                <a:solidFill>
                  <a:srgbClr val="FFFFFF"/>
                </a:solidFill>
              </a:rPr>
              <a:t>AI Voyage Planner</a:t>
            </a:r>
            <a:endParaRPr lang="en-US" sz="1800" b="1" i="1" dirty="0">
              <a:solidFill>
                <a:srgbClr val="FFFFFF"/>
              </a:solidFill>
            </a:endParaRPr>
          </a:p>
          <a:p>
            <a:pPr algn="r"/>
            <a:endParaRPr lang="en-US" dirty="0"/>
          </a:p>
        </p:txBody>
      </p:sp>
      <p:pic>
        <p:nvPicPr>
          <p:cNvPr id="10" name="Picture 9">
            <a:extLst>
              <a:ext uri="{FF2B5EF4-FFF2-40B4-BE49-F238E27FC236}">
                <a16:creationId xmlns:a16="http://schemas.microsoft.com/office/drawing/2014/main" id="{59565C8C-7FAF-9060-EB52-3E9318860822}"/>
              </a:ext>
            </a:extLst>
          </p:cNvPr>
          <p:cNvPicPr>
            <a:picLocks noChangeAspect="1"/>
          </p:cNvPicPr>
          <p:nvPr/>
        </p:nvPicPr>
        <p:blipFill>
          <a:blip r:embed="rId2"/>
          <a:stretch>
            <a:fillRect/>
          </a:stretch>
        </p:blipFill>
        <p:spPr>
          <a:xfrm>
            <a:off x="932868" y="1480457"/>
            <a:ext cx="4339276" cy="4495799"/>
          </a:xfrm>
          <a:prstGeom prst="rect">
            <a:avLst/>
          </a:prstGeom>
        </p:spPr>
      </p:pic>
      <p:pic>
        <p:nvPicPr>
          <p:cNvPr id="12" name="Picture 11">
            <a:extLst>
              <a:ext uri="{FF2B5EF4-FFF2-40B4-BE49-F238E27FC236}">
                <a16:creationId xmlns:a16="http://schemas.microsoft.com/office/drawing/2014/main" id="{AB1831BD-A22A-B558-879D-F431E2262961}"/>
              </a:ext>
            </a:extLst>
          </p:cNvPr>
          <p:cNvPicPr>
            <a:picLocks noChangeAspect="1"/>
          </p:cNvPicPr>
          <p:nvPr/>
        </p:nvPicPr>
        <p:blipFill>
          <a:blip r:embed="rId3"/>
          <a:stretch>
            <a:fillRect/>
          </a:stretch>
        </p:blipFill>
        <p:spPr>
          <a:xfrm>
            <a:off x="6093893" y="1234637"/>
            <a:ext cx="3917731" cy="485502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t>Findings and Results</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a:t>
            </a:r>
            <a:r>
              <a:rPr lang="en-US" b="1" i="1" dirty="0">
                <a:solidFill>
                  <a:srgbClr val="FFFFFF"/>
                </a:solidFill>
              </a:rPr>
              <a:t>AI Voyage Planner</a:t>
            </a:r>
            <a:endParaRPr lang="en-US" sz="1800" b="1" i="1" dirty="0">
              <a:solidFill>
                <a:srgbClr val="FFFFFF"/>
              </a:solidFill>
            </a:endParaRPr>
          </a:p>
          <a:p>
            <a:pPr algn="r"/>
            <a:endParaRPr lang="en-US" dirty="0"/>
          </a:p>
        </p:txBody>
      </p:sp>
      <p:pic>
        <p:nvPicPr>
          <p:cNvPr id="10" name="Picture 9">
            <a:extLst>
              <a:ext uri="{FF2B5EF4-FFF2-40B4-BE49-F238E27FC236}">
                <a16:creationId xmlns:a16="http://schemas.microsoft.com/office/drawing/2014/main" id="{32461D96-AA31-AD19-A533-F338FBE30951}"/>
              </a:ext>
            </a:extLst>
          </p:cNvPr>
          <p:cNvPicPr>
            <a:picLocks noChangeAspect="1"/>
          </p:cNvPicPr>
          <p:nvPr/>
        </p:nvPicPr>
        <p:blipFill>
          <a:blip r:embed="rId2"/>
          <a:stretch>
            <a:fillRect/>
          </a:stretch>
        </p:blipFill>
        <p:spPr>
          <a:xfrm>
            <a:off x="553482" y="1515867"/>
            <a:ext cx="4706007" cy="3611304"/>
          </a:xfrm>
          <a:prstGeom prst="rect">
            <a:avLst/>
          </a:prstGeom>
        </p:spPr>
      </p:pic>
      <p:pic>
        <p:nvPicPr>
          <p:cNvPr id="12" name="Picture 11">
            <a:extLst>
              <a:ext uri="{FF2B5EF4-FFF2-40B4-BE49-F238E27FC236}">
                <a16:creationId xmlns:a16="http://schemas.microsoft.com/office/drawing/2014/main" id="{F10AC82C-3B8C-9428-57F7-606361E50A7D}"/>
              </a:ext>
            </a:extLst>
          </p:cNvPr>
          <p:cNvPicPr>
            <a:picLocks noChangeAspect="1"/>
          </p:cNvPicPr>
          <p:nvPr/>
        </p:nvPicPr>
        <p:blipFill>
          <a:blip r:embed="rId3"/>
          <a:stretch>
            <a:fillRect/>
          </a:stretch>
        </p:blipFill>
        <p:spPr>
          <a:xfrm>
            <a:off x="5678958" y="1515867"/>
            <a:ext cx="5201376" cy="45726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616BB04-260F-BCA6-CA79-8B4A401FEE07}"/>
              </a:ext>
            </a:extLst>
          </p:cNvPr>
          <p:cNvSpPr>
            <a:spLocks noGrp="1"/>
          </p:cNvSpPr>
          <p:nvPr>
            <p:ph type="title"/>
          </p:nvPr>
        </p:nvSpPr>
        <p:spPr>
          <a:xfrm>
            <a:off x="838200" y="365125"/>
            <a:ext cx="10515600" cy="1325563"/>
          </a:xfrm>
        </p:spPr>
        <p:txBody>
          <a:bodyPr>
            <a:normAutofit/>
          </a:bodyPr>
          <a:lstStyle/>
          <a:p>
            <a:pPr marL="0" indent="0">
              <a:buNone/>
            </a:pPr>
            <a:r>
              <a:rPr lang="en-GB" dirty="0"/>
              <a:t>Limitation and </a:t>
            </a:r>
            <a:r>
              <a:rPr lang="en-GB" dirty="0" err="1"/>
              <a:t>Futurework</a:t>
            </a:r>
            <a:endParaRPr lang="en-IN" dirty="0"/>
          </a:p>
        </p:txBody>
      </p:sp>
      <p:graphicFrame>
        <p:nvGraphicFramePr>
          <p:cNvPr id="4" name="Table 3">
            <a:extLst>
              <a:ext uri="{FF2B5EF4-FFF2-40B4-BE49-F238E27FC236}">
                <a16:creationId xmlns:a16="http://schemas.microsoft.com/office/drawing/2014/main" id="{9DD06E57-4F64-0E2C-BDA6-4A5CB1D41A5B}"/>
              </a:ext>
            </a:extLst>
          </p:cNvPr>
          <p:cNvGraphicFramePr>
            <a:graphicFrameLocks noGrp="1"/>
          </p:cNvGraphicFramePr>
          <p:nvPr>
            <p:extLst>
              <p:ext uri="{D42A27DB-BD31-4B8C-83A1-F6EECF244321}">
                <p14:modId xmlns:p14="http://schemas.microsoft.com/office/powerpoint/2010/main" val="1680451253"/>
              </p:ext>
            </p:extLst>
          </p:nvPr>
        </p:nvGraphicFramePr>
        <p:xfrm>
          <a:off x="677271" y="1284515"/>
          <a:ext cx="11004447" cy="4582886"/>
        </p:xfrm>
        <a:graphic>
          <a:graphicData uri="http://schemas.openxmlformats.org/drawingml/2006/table">
            <a:tbl>
              <a:tblPr firstRow="1" bandRow="1">
                <a:tableStyleId>{5C22544A-7EE6-4342-B048-85BDC9FD1C3A}</a:tableStyleId>
              </a:tblPr>
              <a:tblGrid>
                <a:gridCol w="323425">
                  <a:extLst>
                    <a:ext uri="{9D8B030D-6E8A-4147-A177-3AD203B41FA5}">
                      <a16:colId xmlns:a16="http://schemas.microsoft.com/office/drawing/2014/main" val="1438058244"/>
                    </a:ext>
                  </a:extLst>
                </a:gridCol>
                <a:gridCol w="1577344">
                  <a:extLst>
                    <a:ext uri="{9D8B030D-6E8A-4147-A177-3AD203B41FA5}">
                      <a16:colId xmlns:a16="http://schemas.microsoft.com/office/drawing/2014/main" val="3208850838"/>
                    </a:ext>
                  </a:extLst>
                </a:gridCol>
                <a:gridCol w="2666546">
                  <a:extLst>
                    <a:ext uri="{9D8B030D-6E8A-4147-A177-3AD203B41FA5}">
                      <a16:colId xmlns:a16="http://schemas.microsoft.com/office/drawing/2014/main" val="2864823057"/>
                    </a:ext>
                  </a:extLst>
                </a:gridCol>
                <a:gridCol w="3401089">
                  <a:extLst>
                    <a:ext uri="{9D8B030D-6E8A-4147-A177-3AD203B41FA5}">
                      <a16:colId xmlns:a16="http://schemas.microsoft.com/office/drawing/2014/main" val="2023507083"/>
                    </a:ext>
                  </a:extLst>
                </a:gridCol>
                <a:gridCol w="3036043">
                  <a:extLst>
                    <a:ext uri="{9D8B030D-6E8A-4147-A177-3AD203B41FA5}">
                      <a16:colId xmlns:a16="http://schemas.microsoft.com/office/drawing/2014/main" val="1230254231"/>
                    </a:ext>
                  </a:extLst>
                </a:gridCol>
              </a:tblGrid>
              <a:tr h="305888">
                <a:tc>
                  <a:txBody>
                    <a:bodyPr/>
                    <a:lstStyle/>
                    <a:p>
                      <a:pPr indent="0" algn="ctr">
                        <a:buNone/>
                      </a:pPr>
                      <a:r>
                        <a:rPr lang="en-IN" sz="900">
                          <a:effectLst/>
                        </a:rPr>
                        <a:t>#</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Dimension / Area</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Current Limitation</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Proposed Future Work &amp; Solution</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Expected Impact</a:t>
                      </a:r>
                      <a:endParaRPr lang="en-IN" sz="900" b="0" i="0">
                        <a:solidFill>
                          <a:srgbClr val="CCCCCC"/>
                        </a:solidFill>
                        <a:effectLst/>
                        <a:latin typeface="Segoe WPC"/>
                      </a:endParaRPr>
                    </a:p>
                  </a:txBody>
                  <a:tcPr marL="80690" marR="80690" marT="40345" marB="40345" anchor="ctr"/>
                </a:tc>
                <a:extLst>
                  <a:ext uri="{0D108BD9-81ED-4DB2-BD59-A6C34878D82A}">
                    <a16:rowId xmlns:a16="http://schemas.microsoft.com/office/drawing/2014/main" val="4029233317"/>
                  </a:ext>
                </a:extLst>
              </a:tr>
              <a:tr h="475222">
                <a:tc>
                  <a:txBody>
                    <a:bodyPr/>
                    <a:lstStyle/>
                    <a:p>
                      <a:pPr indent="0" algn="ctr">
                        <a:buNone/>
                      </a:pPr>
                      <a:r>
                        <a:rPr lang="en-IN" sz="900">
                          <a:effectLst/>
                        </a:rPr>
                        <a:t>1</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Geographic Scope</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Limited primarily to destinations and POIs across India.</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Expand knowledge base and RAG vector store to support global/international cities.</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Transforms into a worldwide AI travel companion.</a:t>
                      </a:r>
                      <a:endParaRPr lang="en-IN" sz="900" b="0" i="0">
                        <a:solidFill>
                          <a:srgbClr val="CCCCCC"/>
                        </a:solidFill>
                        <a:effectLst/>
                        <a:latin typeface="Segoe WPC"/>
                      </a:endParaRPr>
                    </a:p>
                  </a:txBody>
                  <a:tcPr marL="80690" marR="80690" marT="40345" marB="40345" anchor="ctr"/>
                </a:tc>
                <a:extLst>
                  <a:ext uri="{0D108BD9-81ED-4DB2-BD59-A6C34878D82A}">
                    <a16:rowId xmlns:a16="http://schemas.microsoft.com/office/drawing/2014/main" val="285695978"/>
                  </a:ext>
                </a:extLst>
              </a:tr>
              <a:tr h="475222">
                <a:tc>
                  <a:txBody>
                    <a:bodyPr/>
                    <a:lstStyle/>
                    <a:p>
                      <a:pPr indent="0" algn="ctr">
                        <a:buNone/>
                      </a:pPr>
                      <a:r>
                        <a:rPr lang="en-IN" sz="900">
                          <a:effectLst/>
                        </a:rPr>
                        <a:t>2</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Bookings &amp; Reservations</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Recommends places and hotels without direct booking or ticket checkout capabilities.</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Integrate live booking APIs (Amadeus, Skyscanner, Booking.com, IRCTC, Uber/Ola).</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Enables seamless, 1-click booking of flights, hotels, trains, and cabs within the itinerary.</a:t>
                      </a:r>
                      <a:endParaRPr lang="en-IN" sz="900" b="0" i="0">
                        <a:solidFill>
                          <a:srgbClr val="CCCCCC"/>
                        </a:solidFill>
                        <a:effectLst/>
                        <a:latin typeface="Segoe WPC"/>
                      </a:endParaRPr>
                    </a:p>
                  </a:txBody>
                  <a:tcPr marL="80690" marR="80690" marT="40345" marB="40345" anchor="ctr"/>
                </a:tc>
                <a:extLst>
                  <a:ext uri="{0D108BD9-81ED-4DB2-BD59-A6C34878D82A}">
                    <a16:rowId xmlns:a16="http://schemas.microsoft.com/office/drawing/2014/main" val="122674652"/>
                  </a:ext>
                </a:extLst>
              </a:tr>
              <a:tr h="475222">
                <a:tc>
                  <a:txBody>
                    <a:bodyPr/>
                    <a:lstStyle/>
                    <a:p>
                      <a:pPr indent="0" algn="ctr">
                        <a:buNone/>
                      </a:pPr>
                      <a:r>
                        <a:rPr lang="en-IN" sz="900">
                          <a:effectLst/>
                        </a:rPr>
                        <a:t>3</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Pricing &amp; Budgeting</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Costs are estimated based on historical averages and heuristic price tiers.</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Connect real-time dynamic pricing APIs for flights, hotels, and seasonal attraction tickets.</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Delivers hyper-accurate, real-time budget forecasting and price surge alerts.</a:t>
                      </a:r>
                      <a:endParaRPr lang="en-IN" sz="900" b="0" i="0">
                        <a:solidFill>
                          <a:srgbClr val="CCCCCC"/>
                        </a:solidFill>
                        <a:effectLst/>
                        <a:latin typeface="Segoe WPC"/>
                      </a:endParaRPr>
                    </a:p>
                  </a:txBody>
                  <a:tcPr marL="80690" marR="80690" marT="40345" marB="40345" anchor="ctr"/>
                </a:tc>
                <a:extLst>
                  <a:ext uri="{0D108BD9-81ED-4DB2-BD59-A6C34878D82A}">
                    <a16:rowId xmlns:a16="http://schemas.microsoft.com/office/drawing/2014/main" val="320718650"/>
                  </a:ext>
                </a:extLst>
              </a:tr>
              <a:tr h="475222">
                <a:tc>
                  <a:txBody>
                    <a:bodyPr/>
                    <a:lstStyle/>
                    <a:p>
                      <a:pPr indent="0" algn="ctr">
                        <a:buNone/>
                      </a:pPr>
                      <a:r>
                        <a:rPr lang="en-IN" sz="900">
                          <a:effectLst/>
                        </a:rPr>
                        <a:t>4</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Transit &amp; Routing</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Single-mode routes calculated without live traffic congestion or delay factors.</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Implement multi-modal transit engine (Flight + Train + Metro + Cab) with live traffic integration.</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Provides precise transit times, optimal route combinations, and carbon-aware travel choices.</a:t>
                      </a:r>
                      <a:endParaRPr lang="en-IN" sz="900" b="0" i="0">
                        <a:solidFill>
                          <a:srgbClr val="CCCCCC"/>
                        </a:solidFill>
                        <a:effectLst/>
                        <a:latin typeface="Segoe WPC"/>
                      </a:endParaRPr>
                    </a:p>
                  </a:txBody>
                  <a:tcPr marL="80690" marR="80690" marT="40345" marB="40345" anchor="ctr"/>
                </a:tc>
                <a:extLst>
                  <a:ext uri="{0D108BD9-81ED-4DB2-BD59-A6C34878D82A}">
                    <a16:rowId xmlns:a16="http://schemas.microsoft.com/office/drawing/2014/main" val="2178874793"/>
                  </a:ext>
                </a:extLst>
              </a:tr>
              <a:tr h="475222">
                <a:tc>
                  <a:txBody>
                    <a:bodyPr/>
                    <a:lstStyle/>
                    <a:p>
                      <a:pPr indent="0" algn="ctr">
                        <a:buNone/>
                      </a:pPr>
                      <a:r>
                        <a:rPr lang="en-IN" sz="900">
                          <a:effectLst/>
                        </a:rPr>
                        <a:t>5</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Offline Accessibility</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Requires an active internet connection to generate itineraries and render maps.</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Develop a Mobile App (React Native / PWA) with offline vector maps and local caching.</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Guarantees uninterrupted access in remote travel zones or areas with poor network coverage.</a:t>
                      </a:r>
                      <a:endParaRPr lang="en-IN" sz="900" b="0" i="0">
                        <a:solidFill>
                          <a:srgbClr val="CCCCCC"/>
                        </a:solidFill>
                        <a:effectLst/>
                        <a:latin typeface="Segoe WPC"/>
                      </a:endParaRPr>
                    </a:p>
                  </a:txBody>
                  <a:tcPr marL="80690" marR="80690" marT="40345" marB="40345" anchor="ctr"/>
                </a:tc>
                <a:extLst>
                  <a:ext uri="{0D108BD9-81ED-4DB2-BD59-A6C34878D82A}">
                    <a16:rowId xmlns:a16="http://schemas.microsoft.com/office/drawing/2014/main" val="2607080850"/>
                  </a:ext>
                </a:extLst>
              </a:tr>
              <a:tr h="475222">
                <a:tc>
                  <a:txBody>
                    <a:bodyPr/>
                    <a:lstStyle/>
                    <a:p>
                      <a:pPr indent="0" algn="ctr">
                        <a:buNone/>
                      </a:pPr>
                      <a:r>
                        <a:rPr lang="en-IN" sz="900">
                          <a:effectLst/>
                        </a:rPr>
                        <a:t>6</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Group Collaboration</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Itineraries are generated for single-user sessions with no shared editing features.</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Implement real-time WebSockets for multi-user shared trip planning boards and voting.</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Allows friends and family to co-create itineraries and vote on places collaboratively.</a:t>
                      </a:r>
                      <a:endParaRPr lang="en-IN" sz="900" b="0" i="0">
                        <a:solidFill>
                          <a:srgbClr val="CCCCCC"/>
                        </a:solidFill>
                        <a:effectLst/>
                        <a:latin typeface="Segoe WPC"/>
                      </a:endParaRPr>
                    </a:p>
                  </a:txBody>
                  <a:tcPr marL="80690" marR="80690" marT="40345" marB="40345" anchor="ctr"/>
                </a:tc>
                <a:extLst>
                  <a:ext uri="{0D108BD9-81ED-4DB2-BD59-A6C34878D82A}">
                    <a16:rowId xmlns:a16="http://schemas.microsoft.com/office/drawing/2014/main" val="2367525326"/>
                  </a:ext>
                </a:extLst>
              </a:tr>
              <a:tr h="475222">
                <a:tc>
                  <a:txBody>
                    <a:bodyPr/>
                    <a:lstStyle/>
                    <a:p>
                      <a:pPr indent="0" algn="ctr">
                        <a:buNone/>
                      </a:pPr>
                      <a:r>
                        <a:rPr lang="en-IN" sz="900">
                          <a:effectLst/>
                        </a:rPr>
                        <a:t>7</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Expense Tracking</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No on-trip expense logging or group bill splitting features.</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Build an in-trip expense manager with receipt scanning (OCR) and automated bill splitting.</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Eliminates the need for external finance apps during group trips.</a:t>
                      </a:r>
                      <a:endParaRPr lang="en-IN" sz="900" b="0" i="0">
                        <a:solidFill>
                          <a:srgbClr val="CCCCCC"/>
                        </a:solidFill>
                        <a:effectLst/>
                        <a:latin typeface="Segoe WPC"/>
                      </a:endParaRPr>
                    </a:p>
                  </a:txBody>
                  <a:tcPr marL="80690" marR="80690" marT="40345" marB="40345" anchor="ctr"/>
                </a:tc>
                <a:extLst>
                  <a:ext uri="{0D108BD9-81ED-4DB2-BD59-A6C34878D82A}">
                    <a16:rowId xmlns:a16="http://schemas.microsoft.com/office/drawing/2014/main" val="3176616423"/>
                  </a:ext>
                </a:extLst>
              </a:tr>
              <a:tr h="475222">
                <a:tc>
                  <a:txBody>
                    <a:bodyPr/>
                    <a:lstStyle/>
                    <a:p>
                      <a:pPr indent="0" algn="ctr">
                        <a:buNone/>
                      </a:pPr>
                      <a:r>
                        <a:rPr lang="en-IN" sz="900">
                          <a:effectLst/>
                        </a:rPr>
                        <a:t>8</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Language &amp; Accessibility</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UI and AI outputs are currently restricted to English.</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Add multi-lingual support (Hindi, Tamil, Telugu, etc.) and a hands-free AI voice assistant.</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Enhances accessibility for diverse traveler demographics and enables audio-guided tours.</a:t>
                      </a:r>
                      <a:endParaRPr lang="en-IN" sz="900" b="0" i="0">
                        <a:solidFill>
                          <a:srgbClr val="CCCCCC"/>
                        </a:solidFill>
                        <a:effectLst/>
                        <a:latin typeface="Segoe WPC"/>
                      </a:endParaRPr>
                    </a:p>
                  </a:txBody>
                  <a:tcPr marL="80690" marR="80690" marT="40345" marB="40345" anchor="ctr"/>
                </a:tc>
                <a:extLst>
                  <a:ext uri="{0D108BD9-81ED-4DB2-BD59-A6C34878D82A}">
                    <a16:rowId xmlns:a16="http://schemas.microsoft.com/office/drawing/2014/main" val="2545331870"/>
                  </a:ext>
                </a:extLst>
              </a:tr>
              <a:tr h="475222">
                <a:tc>
                  <a:txBody>
                    <a:bodyPr/>
                    <a:lstStyle/>
                    <a:p>
                      <a:pPr indent="0" algn="ctr">
                        <a:buNone/>
                      </a:pPr>
                      <a:r>
                        <a:rPr lang="en-IN" sz="900">
                          <a:effectLst/>
                        </a:rPr>
                        <a:t>9</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dirty="0">
                          <a:effectLst/>
                        </a:rPr>
                        <a:t>On-Ground Experience</a:t>
                      </a:r>
                      <a:endParaRPr lang="en-IN" sz="900" b="0" i="0" dirty="0">
                        <a:solidFill>
                          <a:srgbClr val="CCCCCC"/>
                        </a:solidFill>
                        <a:effectLst/>
                        <a:latin typeface="Segoe WPC"/>
                      </a:endParaRPr>
                    </a:p>
                  </a:txBody>
                  <a:tcPr marL="80690" marR="80690" marT="40345" marB="40345" anchor="ctr"/>
                </a:tc>
                <a:tc>
                  <a:txBody>
                    <a:bodyPr/>
                    <a:lstStyle/>
                    <a:p>
                      <a:pPr indent="0" algn="l">
                        <a:buNone/>
                      </a:pPr>
                      <a:r>
                        <a:rPr lang="en-IN" sz="900">
                          <a:effectLst/>
                        </a:rPr>
                        <a:t>Recommendations are static cards without interactive on-site guidance.</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a:effectLst/>
                        </a:rPr>
                        <a:t>Introduce GPS-fenced Augmented Reality (AR) wayfinding and AI historical audio narration.</a:t>
                      </a:r>
                      <a:endParaRPr lang="en-IN" sz="900" b="0" i="0">
                        <a:solidFill>
                          <a:srgbClr val="CCCCCC"/>
                        </a:solidFill>
                        <a:effectLst/>
                        <a:latin typeface="Segoe WPC"/>
                      </a:endParaRPr>
                    </a:p>
                  </a:txBody>
                  <a:tcPr marL="80690" marR="80690" marT="40345" marB="40345" anchor="ctr"/>
                </a:tc>
                <a:tc>
                  <a:txBody>
                    <a:bodyPr/>
                    <a:lstStyle/>
                    <a:p>
                      <a:pPr indent="0" algn="l">
                        <a:buNone/>
                      </a:pPr>
                      <a:r>
                        <a:rPr lang="en-IN" sz="900" dirty="0">
                          <a:effectLst/>
                        </a:rPr>
                        <a:t>Provides rich, interactive storytelling when tourists arrive at monuments and heritage sites.</a:t>
                      </a:r>
                      <a:endParaRPr lang="en-IN" sz="900" b="0" i="0" dirty="0">
                        <a:solidFill>
                          <a:srgbClr val="CCCCCC"/>
                        </a:solidFill>
                        <a:effectLst/>
                        <a:latin typeface="Segoe WPC"/>
                      </a:endParaRPr>
                    </a:p>
                  </a:txBody>
                  <a:tcPr marL="80690" marR="80690" marT="40345" marB="40345" anchor="ctr"/>
                </a:tc>
                <a:extLst>
                  <a:ext uri="{0D108BD9-81ED-4DB2-BD59-A6C34878D82A}">
                    <a16:rowId xmlns:a16="http://schemas.microsoft.com/office/drawing/2014/main" val="2460774337"/>
                  </a:ext>
                </a:extLst>
              </a:tr>
            </a:tbl>
          </a:graphicData>
        </a:graphic>
      </p:graphicFrame>
      <p:cxnSp>
        <p:nvCxnSpPr>
          <p:cNvPr id="5" name="Straight Connector 4">
            <a:extLst>
              <a:ext uri="{FF2B5EF4-FFF2-40B4-BE49-F238E27FC236}">
                <a16:creationId xmlns:a16="http://schemas.microsoft.com/office/drawing/2014/main" id="{552A46ED-072F-32C7-D063-78DD85AF7638}"/>
              </a:ext>
            </a:extLst>
          </p:cNvPr>
          <p:cNvCxnSpPr/>
          <p:nvPr/>
        </p:nvCxnSpPr>
        <p:spPr>
          <a:xfrm>
            <a:off x="536959" y="1082899"/>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775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294745" cy="4142740"/>
          </a:xfrm>
        </p:spPr>
        <p:txBody>
          <a:bodyPr/>
          <a:lstStyle/>
          <a:p>
            <a:pPr marL="0" indent="0" algn="just">
              <a:buNone/>
            </a:pPr>
            <a:r>
              <a:rPr lang="en-US" altLang="en-GB" sz="2400" b="0" dirty="0">
                <a:solidFill>
                  <a:schemeClr val="tx1"/>
                </a:solidFill>
                <a:latin typeface="Calibri (Body)"/>
              </a:rPr>
              <a:t>The AI Voyage Planner provides an intelligent and personalized approach to travel planning by combining Generative AI, Retrieval-Augmented Generation (RAG), and real-time travel data. The system uses user preferences such as destination, travel dates, budget, interests, number of travelers, and food preferences to generate customized day-wise itineraries. By integrating Geoapify for places, restaurants, hotels and route information and OpenWeather for weather details, the system provides practical and relevant travel recommendations. The smart itinerary module organizes activities into morning, afternoon, and evening schedules, while the dynamic replanning feature allows the itinerary to be updated according to changing travel conditions and user requirements. Overall, the proposed system reduces the complexity of manual travel planning and provides a flexible, personalized, and intelligent travel experience.</a:t>
            </a:r>
          </a:p>
          <a:p>
            <a:pPr marL="0" indent="0" algn="just">
              <a:buNone/>
            </a:pPr>
            <a:endParaRPr lang="en-US" altLang="en-GB" sz="2400" b="0" dirty="0">
              <a:solidFill>
                <a:schemeClr val="tx1"/>
              </a:solidFill>
              <a:latin typeface="Calibri (Body)"/>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fr-FR" sz="3600" b="1" dirty="0"/>
              <a:t>Conclusion</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a:t>
            </a:r>
            <a:r>
              <a:rPr lang="en-US" b="1" i="1" dirty="0">
                <a:solidFill>
                  <a:srgbClr val="FFFFFF"/>
                </a:solidFill>
              </a:rPr>
              <a:t>AI Voyage Planner</a:t>
            </a: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algn="just"/>
            <a:r>
              <a:rPr lang="en-IN" sz="2400" b="0" dirty="0">
                <a:solidFill>
                  <a:schemeClr val="tx1"/>
                </a:solidFill>
                <a:latin typeface="Calibri" panose="020F0502020204030204" pitchFamily="34" charset="0"/>
              </a:rPr>
              <a:t>I sincerely thank LTM and L&amp;T </a:t>
            </a:r>
            <a:r>
              <a:rPr lang="en-IN" sz="2400" b="0" dirty="0" err="1">
                <a:solidFill>
                  <a:schemeClr val="tx1"/>
                </a:solidFill>
                <a:latin typeface="Calibri" panose="020F0502020204030204" pitchFamily="34" charset="0"/>
              </a:rPr>
              <a:t>EduTech</a:t>
            </a:r>
            <a:r>
              <a:rPr lang="en-IN" sz="2400" b="0" dirty="0">
                <a:solidFill>
                  <a:schemeClr val="tx1"/>
                </a:solidFill>
                <a:latin typeface="Calibri" panose="020F0502020204030204" pitchFamily="34" charset="0"/>
              </a:rPr>
              <a:t> for providing the infrastructure, laptop, training room, ID card, and a valuable 2-month opportunity to enhance my technical skills through practical project development.</a:t>
            </a:r>
          </a:p>
          <a:p>
            <a:pPr algn="just"/>
            <a:r>
              <a:rPr lang="en-IN" sz="2400" b="0" dirty="0">
                <a:solidFill>
                  <a:schemeClr val="tx1"/>
                </a:solidFill>
                <a:latin typeface="Calibri" panose="020F0502020204030204" pitchFamily="34" charset="0"/>
              </a:rPr>
              <a:t> I express my special gratitude to Dr. Ganesh for his continuous guidance, valuable suggestions, and support in improving my project. I also thank the Classroom Managers for their daily monitoring, coordination, and assistance in resolving issues. Finally, my special thanks to Mr. Jayakanthan, Manager – Delivery Operations, L&amp;T </a:t>
            </a:r>
            <a:r>
              <a:rPr lang="en-IN" sz="2400" b="0" dirty="0" err="1">
                <a:solidFill>
                  <a:schemeClr val="tx1"/>
                </a:solidFill>
                <a:latin typeface="Calibri" panose="020F0502020204030204" pitchFamily="34" charset="0"/>
              </a:rPr>
              <a:t>EduTech</a:t>
            </a:r>
            <a:r>
              <a:rPr lang="en-IN" sz="2400" b="0" dirty="0">
                <a:solidFill>
                  <a:schemeClr val="tx1"/>
                </a:solidFill>
                <a:latin typeface="Calibri" panose="020F0502020204030204" pitchFamily="34" charset="0"/>
              </a:rPr>
              <a:t>, for his encouragement, support, and for providing this valuable opportunity.</a:t>
            </a:r>
          </a:p>
          <a:p>
            <a:pPr marL="0" indent="0" algn="just">
              <a:buNone/>
            </a:pPr>
            <a:endParaRPr lang="en-US" sz="2000" b="0" dirty="0">
              <a:solidFill>
                <a:schemeClr val="tx1"/>
              </a:solidFill>
            </a:endParaRPr>
          </a:p>
          <a:p>
            <a:pPr marL="0" indent="0">
              <a:lnSpc>
                <a:spcPct val="150000"/>
              </a:lnSpc>
              <a:buNone/>
            </a:pPr>
            <a:endParaRPr lang="en-US" sz="2400" b="0" dirty="0">
              <a:solidFill>
                <a:srgbClr val="5583D1"/>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fr-FR" sz="3600" b="1" dirty="0" err="1"/>
              <a:t>Acknowledgement</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a:t>
            </a:r>
            <a:r>
              <a:rPr lang="en-US" b="1" i="1" dirty="0">
                <a:solidFill>
                  <a:srgbClr val="FFFFFF"/>
                </a:solidFill>
              </a:rPr>
              <a:t>AI Voyage Planner</a:t>
            </a: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568430" cy="4142740"/>
          </a:xfrm>
        </p:spPr>
        <p:txBody>
          <a:bodyPr/>
          <a:lstStyle/>
          <a:p>
            <a:pPr algn="just"/>
            <a:r>
              <a:rPr lang="en-US" altLang="en-GB" sz="2400" b="0" dirty="0">
                <a:solidFill>
                  <a:schemeClr val="tx1"/>
                </a:solidFill>
                <a:latin typeface="Calibri (Body)"/>
              </a:rPr>
              <a:t>[1] H. Zheng et al., “Recommender Systems in the Era of Large Language Models (LLMs),” IEEE Transactions on Knowledge and Data Engineering, vol. 36, no. 11, pp. 6889–6907, Nov. 2024, doi: 10.1109/TKDE.2024.3392335.</a:t>
            </a:r>
          </a:p>
          <a:p>
            <a:pPr algn="just"/>
            <a:r>
              <a:rPr lang="en-US" altLang="en-GB" sz="2400" b="0" dirty="0">
                <a:solidFill>
                  <a:schemeClr val="tx1"/>
                </a:solidFill>
                <a:latin typeface="Calibri (Body)"/>
              </a:rPr>
              <a:t>[2] “Travel Itinerary Generation using AI and Recommendation Systems,” in Proc. IEEE Conf., 2025.</a:t>
            </a:r>
          </a:p>
          <a:p>
            <a:pPr algn="just"/>
            <a:r>
              <a:rPr lang="en-US" altLang="en-GB" sz="2400" b="0" dirty="0">
                <a:solidFill>
                  <a:schemeClr val="tx1"/>
                </a:solidFill>
                <a:latin typeface="Calibri (Body)"/>
              </a:rPr>
              <a:t>[3] “Smart Trip Planner for Personalized Tourism Itineraries,” in Proc. 5th Int. Conf. on Ubiquitous Computing and Intelligent Information Systems (ICUIS), 2025, doi: 10.1109/ICUIS67429.2025.11380545.</a:t>
            </a:r>
          </a:p>
          <a:p>
            <a:pPr algn="just"/>
            <a:r>
              <a:rPr lang="en-US" altLang="en-GB" sz="2400" b="0" dirty="0">
                <a:solidFill>
                  <a:schemeClr val="tx1"/>
                </a:solidFill>
                <a:latin typeface="Calibri (Body)"/>
              </a:rPr>
              <a:t>[4] “Genetic Algorithm Based Personalized Travel Recommendation System,” in Proc. 2nd Int. Conf. on Intelligent Data Communication Technologies and Internet of Things (IDCIoT), 2024, doi: 10.1109/IDCIoT59759.2024.10467470.</a:t>
            </a:r>
          </a:p>
          <a:p>
            <a:pPr algn="just"/>
            <a:r>
              <a:rPr lang="en-US" altLang="en-GB" sz="2400" b="0" dirty="0">
                <a:solidFill>
                  <a:schemeClr val="tx1"/>
                </a:solidFill>
                <a:latin typeface="Calibri (Body)"/>
              </a:rPr>
              <a:t>[5] “Evaluation of the Effect of Tourism Recommendation System based on AI,” in Proc. 3rd Int. Conf. on Artificial Intelligence and Computer Information Technology (AICIT), 2024, doi: 10.1109/AICIT62434.2024.10730422.</a:t>
            </a: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fr-FR" sz="3600" b="1" dirty="0"/>
              <a:t>Reference</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a:t>
            </a:r>
            <a:r>
              <a:rPr lang="en-US" b="1" i="1" dirty="0">
                <a:solidFill>
                  <a:srgbClr val="FFFFFF"/>
                </a:solidFill>
              </a:rPr>
              <a:t>AI Voyage Planner</a:t>
            </a:r>
            <a:endParaRPr lang="en-US" sz="1800" b="1" i="1" dirty="0">
              <a:solidFill>
                <a:srgbClr val="FFFFFF"/>
              </a:solidFill>
            </a:endParaRP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66*283"/>
  <p:tag name="TABLE_ENDDRAG_RECT" val="20*108*866*283"/>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66*301"/>
  <p:tag name="TABLE_ENDDRAG_RECT" val="20*115*866*30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TotalTime>
  <Words>2133</Words>
  <Application>Microsoft Office PowerPoint</Application>
  <PresentationFormat>Widescreen</PresentationFormat>
  <Paragraphs>250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(Body)</vt:lpstr>
      <vt:lpstr>Frutiger 45 bold</vt:lpstr>
      <vt:lpstr>Frutiger LT Pro 45 Light</vt:lpstr>
      <vt:lpstr>Segoe WPC</vt:lpstr>
      <vt:lpstr>1_Office Theme</vt:lpstr>
      <vt:lpstr>PowerPoint Presentation</vt:lpstr>
      <vt:lpstr>PowerPoint Presentation</vt:lpstr>
      <vt:lpstr>PowerPoint Presentation</vt:lpstr>
      <vt:lpstr>PowerPoint Presentation</vt:lpstr>
      <vt:lpstr>PowerPoint Presentation</vt:lpstr>
      <vt:lpstr>PowerPoint Presentation</vt:lpstr>
      <vt:lpstr>Technology Stack</vt:lpstr>
      <vt:lpstr>PowerPoint Presentation</vt:lpstr>
      <vt:lpstr>PowerPoint Presentation</vt:lpstr>
      <vt:lpstr>PowerPoint Presentation</vt:lpstr>
      <vt:lpstr>PowerPoint Presentation</vt:lpstr>
      <vt:lpstr>PowerPoint Presentation</vt:lpstr>
      <vt:lpstr>Limitation and Futurework</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Syed Ali Fathima S</cp:lastModifiedBy>
  <cp:revision>63</cp:revision>
  <dcterms:created xsi:type="dcterms:W3CDTF">2024-05-13T10:33:00Z</dcterms:created>
  <dcterms:modified xsi:type="dcterms:W3CDTF">2026-10-12T08:26:50Z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y fmtid="{D5CDD505-2E9C-101B-9397-08002B2CF9AE}" pid="12" name="ICV">
    <vt:lpwstr>CFFAA4ACC6D04C89B19589306F496AD3_13</vt:lpwstr>
  </property>
  <property fmtid="{D5CDD505-2E9C-101B-9397-08002B2CF9AE}" pid="13" name="KSOProductBuildVer">
    <vt:lpwstr>2057-12.2.0.23206</vt:lpwstr>
  </property>
</Properties>
</file>